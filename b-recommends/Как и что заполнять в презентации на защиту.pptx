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3" r:id="rId2"/>
    <p:sldId id="279" r:id="rId3"/>
    <p:sldId id="275" r:id="rId4"/>
    <p:sldId id="288" r:id="rId5"/>
    <p:sldId id="289" r:id="rId6"/>
    <p:sldId id="290" r:id="rId7"/>
    <p:sldId id="284" r:id="rId8"/>
    <p:sldId id="274" r:id="rId9"/>
    <p:sldId id="276" r:id="rId10"/>
    <p:sldId id="291" r:id="rId11"/>
    <p:sldId id="292" r:id="rId12"/>
    <p:sldId id="293" r:id="rId13"/>
    <p:sldId id="285" r:id="rId14"/>
    <p:sldId id="280" r:id="rId15"/>
    <p:sldId id="294" r:id="rId16"/>
    <p:sldId id="278" r:id="rId17"/>
    <p:sldId id="295" r:id="rId18"/>
    <p:sldId id="282" r:id="rId19"/>
    <p:sldId id="281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660"/>
  </p:normalViewPr>
  <p:slideViewPr>
    <p:cSldViewPr snapToGrid="0">
      <p:cViewPr varScale="1">
        <p:scale>
          <a:sx n="72" d="100"/>
          <a:sy n="72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A5223-DA0E-428E-9E40-A4A868E75741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BC5AE-97E5-464C-827A-34A7BC314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00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BC5AE-97E5-464C-827A-34A7BC314E7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53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72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1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01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10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79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40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45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01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53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75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61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B9B3B-45C7-4E10-8D5D-52BA24EC9FDC}" type="datetimeFigureOut">
              <a:rPr lang="ru-RU" smtClean="0"/>
              <a:t>13.11.2020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7F32D-E6F0-46D9-B10A-D19ADD864A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9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1" y="1047750"/>
            <a:ext cx="1219200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200" dirty="0" smtClean="0">
                <a:ea typeface="Times New Roman" panose="02020603050405020304" pitchFamily="18" charset="0"/>
              </a:rPr>
              <a:t>- Заполнять всё только черным шрифтом ( </a:t>
            </a:r>
            <a:r>
              <a:rPr lang="ru-RU" sz="3200" dirty="0">
                <a:ea typeface="Times New Roman" panose="02020603050405020304" pitchFamily="18" charset="0"/>
              </a:rPr>
              <a:t>С</a:t>
            </a:r>
            <a:r>
              <a:rPr lang="en-US" sz="3200" dirty="0" err="1" smtClean="0">
                <a:ea typeface="Times New Roman" panose="02020603050405020304" pitchFamily="18" charset="0"/>
              </a:rPr>
              <a:t>alibri</a:t>
            </a:r>
            <a:r>
              <a:rPr lang="en-US" sz="3200" dirty="0" smtClean="0">
                <a:ea typeface="Times New Roman" panose="02020603050405020304" pitchFamily="18" charset="0"/>
              </a:rPr>
              <a:t> </a:t>
            </a:r>
            <a:r>
              <a:rPr lang="ru-RU" sz="3200" dirty="0" smtClean="0">
                <a:ea typeface="Times New Roman" panose="02020603050405020304" pitchFamily="18" charset="0"/>
              </a:rPr>
              <a:t>основной) на </a:t>
            </a:r>
            <a:r>
              <a:rPr lang="ru-RU" sz="3200" dirty="0" smtClean="0">
                <a:ea typeface="Times New Roman" panose="02020603050405020304" pitchFamily="18" charset="0"/>
              </a:rPr>
              <a:t>белом фоне!</a:t>
            </a:r>
          </a:p>
          <a:p>
            <a:pPr indent="-6858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3200" dirty="0" smtClean="0">
                <a:ea typeface="Times New Roman" panose="02020603050405020304" pitchFamily="18" charset="0"/>
              </a:rPr>
              <a:t>Вся информация – подаётся </a:t>
            </a:r>
            <a:r>
              <a:rPr lang="ru-RU" sz="3200" dirty="0" err="1" smtClean="0">
                <a:ea typeface="Times New Roman" panose="02020603050405020304" pitchFamily="18" charset="0"/>
              </a:rPr>
              <a:t>тезисно</a:t>
            </a:r>
            <a:r>
              <a:rPr lang="ru-RU" sz="3200" dirty="0" smtClean="0">
                <a:ea typeface="Times New Roman" panose="02020603050405020304" pitchFamily="18" charset="0"/>
              </a:rPr>
              <a:t> </a:t>
            </a:r>
            <a:r>
              <a:rPr lang="ru-RU" sz="3200" dirty="0" smtClean="0">
                <a:ea typeface="Times New Roman" panose="02020603050405020304" pitchFamily="18" charset="0"/>
              </a:rPr>
              <a:t>(</a:t>
            </a:r>
            <a:r>
              <a:rPr lang="ru-RU" sz="3200" dirty="0" smtClean="0">
                <a:ln>
                  <a:solidFill>
                    <a:sysClr val="windowText" lastClr="000000"/>
                  </a:solidFill>
                </a:ln>
                <a:ea typeface="Times New Roman" panose="02020603050405020304" pitchFamily="18" charset="0"/>
              </a:rPr>
              <a:t>тезис</a:t>
            </a:r>
            <a:r>
              <a:rPr lang="ru-RU" sz="3200" dirty="0" smtClean="0">
                <a:ea typeface="Times New Roman" panose="02020603050405020304" pitchFamily="18" charset="0"/>
              </a:rPr>
              <a:t> </a:t>
            </a:r>
            <a:r>
              <a:rPr lang="ru-RU" sz="3200" dirty="0" smtClean="0">
                <a:ea typeface="Times New Roman" panose="02020603050405020304" pitchFamily="18" charset="0"/>
              </a:rPr>
              <a:t>– главная мысль, выраженная в одно предложение);</a:t>
            </a:r>
          </a:p>
          <a:p>
            <a:pPr indent="-6858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3200" dirty="0" smtClean="0">
                <a:ea typeface="Times New Roman" panose="02020603050405020304" pitchFamily="18" charset="0"/>
              </a:rPr>
              <a:t>С собой на защиту готовая презентация, заранее открытая и свёрнутая, чтобы не тратить время на защиту;</a:t>
            </a:r>
          </a:p>
          <a:p>
            <a:pPr indent="-6858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ru-RU" sz="3200" dirty="0" smtClean="0">
                <a:ea typeface="Times New Roman" panose="02020603050405020304" pitchFamily="18" charset="0"/>
              </a:rPr>
              <a:t>Блокнот</a:t>
            </a:r>
            <a:r>
              <a:rPr lang="ru-RU" sz="3200" dirty="0" smtClean="0">
                <a:ea typeface="Times New Roman" panose="02020603050405020304" pitchFamily="18" charset="0"/>
              </a:rPr>
              <a:t>, тетрадь для фиксации </a:t>
            </a:r>
            <a:r>
              <a:rPr lang="ru-RU" sz="3200" dirty="0" smtClean="0">
                <a:ln>
                  <a:solidFill>
                    <a:sysClr val="windowText" lastClr="000000"/>
                  </a:solidFill>
                </a:ln>
                <a:ea typeface="Times New Roman" panose="02020603050405020304" pitchFamily="18" charset="0"/>
              </a:rPr>
              <a:t>полученных замечаний на защите</a:t>
            </a:r>
            <a:r>
              <a:rPr lang="ru-RU" sz="3200" dirty="0" smtClean="0">
                <a:ea typeface="Times New Roman" panose="02020603050405020304" pitchFamily="18" charset="0"/>
              </a:rPr>
              <a:t>, которые необходимо будет в обязательном порядке исправить.</a:t>
            </a:r>
            <a:endParaRPr lang="ru-RU" sz="32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36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BF31D35-B0D1-4712-93D2-7B31299D4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67921"/>
            <a:ext cx="12192000" cy="1745839"/>
          </a:xfrm>
        </p:spPr>
        <p:txBody>
          <a:bodyPr>
            <a:normAutofit fontScale="90000"/>
          </a:bodyPr>
          <a:lstStyle/>
          <a:p>
            <a:r>
              <a:rPr lang="ru-RU" sz="3100" b="1" i="1" cap="all" dirty="0" smtClean="0">
                <a:latin typeface="+mn-lt"/>
                <a:cs typeface="Times New Roman" panose="02020603050405020304" pitchFamily="18" charset="0"/>
              </a:rPr>
              <a:t>индивидуальный проект / исследование </a:t>
            </a:r>
            <a:r>
              <a:rPr lang="ru-RU" sz="3100" i="1" dirty="0">
                <a:latin typeface="+mn-lt"/>
                <a:cs typeface="Times New Roman" panose="02020603050405020304" pitchFamily="18" charset="0"/>
              </a:rPr>
              <a:t/>
            </a:r>
            <a:br>
              <a:rPr lang="ru-RU" sz="3100" i="1" dirty="0">
                <a:latin typeface="+mn-lt"/>
                <a:cs typeface="Times New Roman" panose="02020603050405020304" pitchFamily="18" charset="0"/>
              </a:rPr>
            </a:br>
            <a:r>
              <a:rPr lang="ru-RU" sz="3100" b="1" i="1" cap="all" dirty="0">
                <a:latin typeface="+mn-lt"/>
                <a:cs typeface="Times New Roman" panose="02020603050405020304" pitchFamily="18" charset="0"/>
              </a:rPr>
              <a:t>на тему:</a:t>
            </a:r>
            <a:r>
              <a:rPr lang="ru-RU" sz="3100" i="1" dirty="0">
                <a:latin typeface="+mn-lt"/>
                <a:cs typeface="Times New Roman" panose="02020603050405020304" pitchFamily="18" charset="0"/>
              </a:rPr>
              <a:t/>
            </a:r>
            <a:br>
              <a:rPr lang="ru-RU" sz="3100" i="1" dirty="0">
                <a:latin typeface="+mn-lt"/>
                <a:cs typeface="Times New Roman" panose="02020603050405020304" pitchFamily="18" charset="0"/>
              </a:rPr>
            </a:br>
            <a:r>
              <a:rPr lang="ru-RU" b="1" cap="all" spc="300" dirty="0" smtClean="0">
                <a:latin typeface="+mn-lt"/>
                <a:cs typeface="Times New Roman" panose="02020603050405020304" pitchFamily="18" charset="0"/>
              </a:rPr>
              <a:t>«</a:t>
            </a:r>
            <a:r>
              <a:rPr lang="ru-RU" b="1" spc="300" dirty="0" smtClean="0">
                <a:latin typeface="+mn-lt"/>
                <a:cs typeface="Times New Roman" panose="02020603050405020304" pitchFamily="18" charset="0"/>
              </a:rPr>
              <a:t>?</a:t>
            </a:r>
            <a:r>
              <a:rPr lang="ru-RU" b="1" cap="all" spc="300" dirty="0" smtClean="0">
                <a:latin typeface="+mn-lt"/>
                <a:cs typeface="Times New Roman" panose="02020603050405020304" pitchFamily="18" charset="0"/>
              </a:rPr>
              <a:t>»</a:t>
            </a:r>
            <a:endParaRPr lang="ru-RU" spc="3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0750" y="6323952"/>
            <a:ext cx="1710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i="1" dirty="0" smtClean="0"/>
              <a:t>МОСКВА 2020</a:t>
            </a:r>
            <a:endParaRPr lang="ru-RU" sz="2000" i="1" dirty="0"/>
          </a:p>
        </p:txBody>
      </p:sp>
      <p:sp>
        <p:nvSpPr>
          <p:cNvPr id="7" name="TextBox 6"/>
          <p:cNvSpPr txBox="1"/>
          <p:nvPr/>
        </p:nvSpPr>
        <p:spPr>
          <a:xfrm>
            <a:off x="7901290" y="3976346"/>
            <a:ext cx="35557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 smtClean="0"/>
              <a:t>Учащегося 11 «?» класса: </a:t>
            </a:r>
          </a:p>
          <a:p>
            <a:pPr indent="457200"/>
            <a:r>
              <a:rPr lang="ru-RU" sz="2000" dirty="0" smtClean="0"/>
              <a:t>Иванова Ивана Ивановича</a:t>
            </a:r>
          </a:p>
          <a:p>
            <a:r>
              <a:rPr lang="ru-RU" sz="2000" b="1" dirty="0" smtClean="0"/>
              <a:t>Куратор проекта: </a:t>
            </a:r>
            <a:endParaRPr lang="ru-RU" sz="2000" b="1" dirty="0"/>
          </a:p>
          <a:p>
            <a:pPr indent="457200"/>
            <a:r>
              <a:rPr lang="ru-RU" sz="2000" dirty="0" smtClean="0"/>
              <a:t>Иванов Иван Иванович</a:t>
            </a:r>
            <a:endParaRPr lang="ru-RU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164588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600" i="1" cap="all" dirty="0" smtClean="0">
                <a:ea typeface="Times New Roman" panose="02020603050405020304" pitchFamily="18" charset="0"/>
              </a:rPr>
              <a:t>ДЕПАРТАМЕНТ ОБРАЗОВАНИЯ ГОРОДА МОСКВЫ</a:t>
            </a:r>
            <a:endParaRPr lang="ru-RU" sz="1600" i="1" dirty="0" smtClean="0"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600" i="1" cap="all" dirty="0" smtClean="0">
                <a:ea typeface="Times New Roman" panose="02020603050405020304" pitchFamily="18" charset="0"/>
              </a:rPr>
              <a:t>государственное БЮДЖЕТНОЕ ОБЩЕобразовательное учреждение ГОРОДА МОСКВЫ  </a:t>
            </a:r>
          </a:p>
          <a:p>
            <a:pPr algn="ctr">
              <a:spcAft>
                <a:spcPts val="0"/>
              </a:spcAft>
            </a:pPr>
            <a:r>
              <a:rPr lang="ru-RU" sz="1600" i="1" cap="all" dirty="0" smtClean="0">
                <a:ea typeface="Times New Roman" panose="02020603050405020304" pitchFamily="18" charset="0"/>
              </a:rPr>
              <a:t>ШКОЛА «ПОКРОВСКИЙ КВАРТАЛ»</a:t>
            </a:r>
            <a:endParaRPr lang="ru-RU" sz="1600" i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2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ЦЕЛЬ И ЗАДАЧИ</a:t>
            </a:r>
            <a:endParaRPr lang="ru-RU" sz="4400" b="1" i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22639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 smtClean="0">
                <a:solidFill>
                  <a:srgbClr val="C00000"/>
                </a:solidFill>
              </a:rPr>
              <a:t>ЦЕЛЬ</a:t>
            </a:r>
            <a:r>
              <a:rPr lang="ru-RU" sz="3200" dirty="0" smtClean="0"/>
              <a:t>: формулировка цели …</a:t>
            </a:r>
            <a:endParaRPr lang="ru-RU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3238966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 smtClean="0">
                <a:solidFill>
                  <a:srgbClr val="C00000"/>
                </a:solidFill>
              </a:rPr>
              <a:t>ЗАДАЧИ</a:t>
            </a:r>
            <a:r>
              <a:rPr lang="ru-RU" sz="2800" dirty="0" smtClean="0"/>
              <a:t>: </a:t>
            </a:r>
          </a:p>
          <a:p>
            <a:r>
              <a:rPr lang="ru-RU" sz="2800" dirty="0" smtClean="0"/>
              <a:t>1) формулировка задачи …</a:t>
            </a:r>
          </a:p>
          <a:p>
            <a:r>
              <a:rPr lang="ru-RU" sz="2800" dirty="0" smtClean="0"/>
              <a:t>2) </a:t>
            </a:r>
            <a:r>
              <a:rPr lang="ru-RU" sz="2800" dirty="0"/>
              <a:t>формулировка задачи …</a:t>
            </a:r>
          </a:p>
          <a:p>
            <a:r>
              <a:rPr lang="ru-RU" sz="2800" dirty="0" smtClean="0"/>
              <a:t>3) </a:t>
            </a:r>
            <a:r>
              <a:rPr lang="ru-RU" sz="2800" dirty="0"/>
              <a:t>формулировка задачи …</a:t>
            </a:r>
          </a:p>
          <a:p>
            <a:r>
              <a:rPr lang="ru-RU" sz="2800" dirty="0" smtClean="0"/>
              <a:t>4) </a:t>
            </a:r>
            <a:r>
              <a:rPr lang="ru-RU" sz="2800" dirty="0"/>
              <a:t>формулировка задачи …</a:t>
            </a:r>
          </a:p>
          <a:p>
            <a:r>
              <a:rPr lang="ru-RU" sz="2800" dirty="0" smtClean="0"/>
              <a:t>5) </a:t>
            </a:r>
          </a:p>
        </p:txBody>
      </p:sp>
    </p:spTree>
    <p:extLst>
      <p:ext uri="{BB962C8B-B14F-4D97-AF65-F5344CB8AC3E}">
        <p14:creationId xmlns:p14="http://schemas.microsoft.com/office/powerpoint/2010/main" val="137087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326659"/>
            <a:ext cx="1219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Цель должна быть одна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Цель должна быть достижима в рамках проекта 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Цель должна быть конкретна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Цель должна быть измерима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Цель должна быть связана с результатом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/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Задачи должны вести к достижению цели и вы должны уметь объяснить, каким образом! </a:t>
            </a:r>
            <a:endParaRPr lang="ru-RU" sz="4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ЦЕЛЬ И ЗАДАЧИ. ПОЯСНЕНИЯ</a:t>
            </a:r>
            <a:endParaRPr lang="ru-RU" sz="4400" b="1" i="1" dirty="0"/>
          </a:p>
        </p:txBody>
      </p:sp>
    </p:spTree>
    <p:extLst>
      <p:ext uri="{BB962C8B-B14F-4D97-AF65-F5344CB8AC3E}">
        <p14:creationId xmlns:p14="http://schemas.microsoft.com/office/powerpoint/2010/main" val="260148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594188"/>
            <a:ext cx="121920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3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Моя цель конкретна?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3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Моя цель не 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слишком 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глобальна? Возможно ли её 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уменьшить 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или упростить без потери актуальности?</a:t>
            </a:r>
            <a:endParaRPr lang="ru-RU" sz="3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3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Как проверить достижение цели после завершения работы?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Как измерить результат?</a:t>
            </a:r>
            <a:endParaRPr lang="ru-RU" sz="3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3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36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Как продемонстрировать (доказать), что я достиг поставленной цели?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ЦЕЛЬ И ЗАДАЧИ. ПОЯСНЕНИЯ: ВОПРОСЫ ДЛЯ САМОАНАЛИЗА ЦЕЛИ </a:t>
            </a:r>
            <a:endParaRPr lang="ru-RU" sz="4400" b="1" i="1" dirty="0"/>
          </a:p>
        </p:txBody>
      </p:sp>
    </p:spTree>
    <p:extLst>
      <p:ext uri="{BB962C8B-B14F-4D97-AF65-F5344CB8AC3E}">
        <p14:creationId xmlns:p14="http://schemas.microsoft.com/office/powerpoint/2010/main" val="3878774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680508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Как буду выполнять эту задачу</a:t>
            </a:r>
            <a:r>
              <a:rPr lang="ru-RU" sz="4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? 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4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Что понадобиться для выполнения задачи (ресурсы)?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4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Каковы сроки выполнения задачи?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ru-RU" sz="4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Как эта задача помогает </a:t>
            </a:r>
            <a:r>
              <a:rPr lang="ru-RU" sz="4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достичь </a:t>
            </a:r>
            <a:r>
              <a:rPr lang="ru-RU" sz="4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цели?</a:t>
            </a:r>
            <a:endParaRPr lang="ru-RU" sz="40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4000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Как продемонстрировать проверяющим, что ты выполнил задачу?</a:t>
            </a:r>
            <a:endParaRPr lang="ru-RU" sz="4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4400" b="1" i="1" dirty="0">
                <a:solidFill>
                  <a:srgbClr val="000000"/>
                </a:solidFill>
                <a:latin typeface="Calibri" panose="020F0502020204030204" pitchFamily="34" charset="0"/>
              </a:rPr>
              <a:t>ВОПРОСЫ ДЛЯ САМОАНАЛИЗА ПОСТАВЛЕННЫХ ЗАДАЧ</a:t>
            </a:r>
            <a:endParaRPr lang="ru-RU" sz="4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87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ПОЯСНЕНИЯ К СЛАЙДУ. ПРИМЕР ЦЕЛЬ И ЗАДАЧИ</a:t>
            </a:r>
            <a:endParaRPr lang="ru-RU" sz="44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22639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 smtClean="0">
                <a:solidFill>
                  <a:srgbClr val="C00000"/>
                </a:solidFill>
              </a:rPr>
              <a:t>ЦЕЛЬ</a:t>
            </a:r>
            <a:r>
              <a:rPr lang="ru-RU" sz="3200" dirty="0" smtClean="0"/>
              <a:t>: Создать атлас определитель распространённых деревьев города Москвы</a:t>
            </a:r>
            <a:endParaRPr lang="ru-R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9128"/>
            <a:ext cx="12192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800" b="1" i="1" dirty="0" smtClean="0">
                <a:solidFill>
                  <a:srgbClr val="C00000"/>
                </a:solidFill>
              </a:rPr>
              <a:t>ЗАДАЧИ</a:t>
            </a:r>
            <a:r>
              <a:rPr lang="ru-RU" sz="2800" dirty="0" smtClean="0"/>
              <a:t>: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 smtClean="0"/>
              <a:t>1) Проанализировать рынок, структуру и содержание атласов-определителей и другой описательной литературы растений города Москвы;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 smtClean="0"/>
              <a:t>2) Описать способы </a:t>
            </a:r>
            <a:r>
              <a:rPr lang="ru-RU" sz="2800" dirty="0" smtClean="0"/>
              <a:t>(алгоритмы</a:t>
            </a:r>
            <a:r>
              <a:rPr lang="ru-RU" sz="2800" dirty="0" smtClean="0"/>
              <a:t>) определения деревьев;</a:t>
            </a:r>
            <a:endParaRPr lang="ru-RU" sz="2800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 smtClean="0"/>
              <a:t>3) Выбрать наиболее распространённые деревья Москвы;</a:t>
            </a:r>
            <a:endParaRPr lang="ru-RU" sz="2800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 smtClean="0"/>
              <a:t>4) Описать анатомо-морфологические признаки для определения искомых деревьев в разные времена года;</a:t>
            </a:r>
            <a:endParaRPr lang="ru-RU" sz="2800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 smtClean="0"/>
              <a:t>5) Оформить атлас</a:t>
            </a:r>
          </a:p>
        </p:txBody>
      </p:sp>
    </p:spTree>
    <p:extLst>
      <p:ext uri="{BB962C8B-B14F-4D97-AF65-F5344CB8AC3E}">
        <p14:creationId xmlns:p14="http://schemas.microsoft.com/office/powerpoint/2010/main" val="92598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ГИПОТЕЗА ИССЛЕДОВАНИЯ</a:t>
            </a:r>
            <a:endParaRPr lang="ru-RU" sz="4400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179671" y="1792382"/>
            <a:ext cx="118326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 smtClean="0"/>
              <a:t>Только для исследовательских работ!</a:t>
            </a:r>
          </a:p>
          <a:p>
            <a:pPr algn="ctr"/>
            <a:r>
              <a:rPr lang="ru-RU" sz="6000" dirty="0" smtClean="0"/>
              <a:t>Формулируется в виде одного короткого и понятного тезиса! </a:t>
            </a:r>
          </a:p>
        </p:txBody>
      </p:sp>
    </p:spTree>
    <p:extLst>
      <p:ext uri="{BB962C8B-B14F-4D97-AF65-F5344CB8AC3E}">
        <p14:creationId xmlns:p14="http://schemas.microsoft.com/office/powerpoint/2010/main" val="330034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МЕТОДЫ</a:t>
            </a:r>
            <a:endParaRPr lang="ru-RU" sz="4400" b="1" i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197413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Задача №1 выполнялась методом …  </a:t>
            </a:r>
          </a:p>
          <a:p>
            <a:r>
              <a:rPr lang="ru-RU" sz="3600" dirty="0" smtClean="0"/>
              <a:t>Задача №2 выполнялась методом …</a:t>
            </a:r>
          </a:p>
          <a:p>
            <a:r>
              <a:rPr lang="ru-RU" sz="3600" dirty="0" smtClean="0"/>
              <a:t>Задача №3 выполнялась методом …</a:t>
            </a:r>
          </a:p>
          <a:p>
            <a:r>
              <a:rPr lang="ru-RU" sz="3600" dirty="0" smtClean="0"/>
              <a:t>Задача №4 выполнялась методом …</a:t>
            </a:r>
          </a:p>
          <a:p>
            <a:r>
              <a:rPr lang="ru-RU" sz="3600" dirty="0"/>
              <a:t>Задача №4</a:t>
            </a:r>
          </a:p>
        </p:txBody>
      </p:sp>
    </p:spTree>
    <p:extLst>
      <p:ext uri="{BB962C8B-B14F-4D97-AF65-F5344CB8AC3E}">
        <p14:creationId xmlns:p14="http://schemas.microsoft.com/office/powerpoint/2010/main" val="65469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656100"/>
            <a:ext cx="12192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b="1" dirty="0" smtClean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Calibri" panose="020F0502020204030204" pitchFamily="34" charset="0"/>
              </a:rPr>
              <a:t>Метод</a:t>
            </a:r>
            <a:r>
              <a:rPr lang="ru-RU" sz="3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– это </a:t>
            </a:r>
            <a:r>
              <a:rPr lang="ru-RU" sz="3600" dirty="0">
                <a:solidFill>
                  <a:srgbClr val="000000"/>
                </a:solidFill>
                <a:latin typeface="Calibri" panose="020F0502020204030204" pitchFamily="34" charset="0"/>
              </a:rPr>
              <a:t>рациональный способ (совокупность способов) для решения определённой задачи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b="1" dirty="0" smtClean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Calibri" panose="020F0502020204030204" pitchFamily="34" charset="0"/>
              </a:rPr>
              <a:t>Методы проекта </a:t>
            </a:r>
            <a:r>
              <a:rPr lang="ru-RU" sz="3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– это </a:t>
            </a:r>
            <a:r>
              <a:rPr lang="ru-RU" sz="3600" dirty="0">
                <a:solidFill>
                  <a:srgbClr val="000000"/>
                </a:solidFill>
                <a:latin typeface="Calibri" panose="020F0502020204030204" pitchFamily="34" charset="0"/>
              </a:rPr>
              <a:t>способы выполнения задач проекта/исследования и достижения цели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3600" b="1" dirty="0" smtClean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Calibri" panose="020F0502020204030204" pitchFamily="34" charset="0"/>
              </a:rPr>
              <a:t>Научный метод </a:t>
            </a:r>
            <a:r>
              <a:rPr lang="ru-RU" sz="3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– это </a:t>
            </a:r>
            <a:r>
              <a:rPr lang="ru-RU" sz="3600" dirty="0">
                <a:solidFill>
                  <a:srgbClr val="000000"/>
                </a:solidFill>
                <a:latin typeface="Calibri" panose="020F0502020204030204" pitchFamily="34" charset="0"/>
              </a:rPr>
              <a:t>оптимальный, апробированный способ выполнения проектных и исследовательских задач теоретического или практического характера. </a:t>
            </a:r>
            <a:endParaRPr lang="ru-RU" sz="3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ПОЯСНЕНИЯ К СЛАЙДУ. </a:t>
            </a:r>
            <a:r>
              <a:rPr lang="ru-RU" sz="4400" b="1" i="1" dirty="0">
                <a:solidFill>
                  <a:srgbClr val="000000"/>
                </a:solidFill>
                <a:latin typeface="Calibri" panose="020F0502020204030204" pitchFamily="34" charset="0"/>
              </a:rPr>
              <a:t>МЕТОДЫ</a:t>
            </a:r>
            <a:endParaRPr lang="ru-RU" sz="4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endParaRPr lang="ru-RU" sz="4400" b="1" i="1" dirty="0"/>
          </a:p>
        </p:txBody>
      </p:sp>
    </p:spTree>
    <p:extLst>
      <p:ext uri="{BB962C8B-B14F-4D97-AF65-F5344CB8AC3E}">
        <p14:creationId xmlns:p14="http://schemas.microsoft.com/office/powerpoint/2010/main" val="193226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41969" t="37760" r="31112" b="35417"/>
          <a:stretch/>
        </p:blipFill>
        <p:spPr>
          <a:xfrm>
            <a:off x="0" y="0"/>
            <a:ext cx="12241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14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15525" t="18074" r="14275" b="12500"/>
          <a:stretch/>
        </p:blipFill>
        <p:spPr>
          <a:xfrm>
            <a:off x="0" y="149387"/>
            <a:ext cx="12192000" cy="670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1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152223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rgbClr val="C00000"/>
                </a:solidFill>
              </a:rPr>
              <a:t>ЗАДАЧИ</a:t>
            </a:r>
            <a:r>
              <a:rPr lang="ru-RU" dirty="0" smtClean="0"/>
              <a:t>: </a:t>
            </a:r>
          </a:p>
          <a:p>
            <a:r>
              <a:rPr lang="ru-RU" dirty="0" smtClean="0"/>
              <a:t>1) Проанализировать рынок, структуру и содержание атласов-определителей и другой описательной литературы растений города Москвы;</a:t>
            </a:r>
          </a:p>
          <a:p>
            <a:r>
              <a:rPr lang="ru-RU" dirty="0" smtClean="0"/>
              <a:t>4) Описать анатомо-морфологические признаки для определения искомых деревьев в разные времена года;</a:t>
            </a:r>
            <a:endParaRPr lang="ru-RU" dirty="0"/>
          </a:p>
          <a:p>
            <a:r>
              <a:rPr lang="ru-RU" dirty="0" smtClean="0"/>
              <a:t>5) Оформить атлас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ПОЯСНЕНИЯ К СЛАЙДУ</a:t>
            </a:r>
            <a:endParaRPr lang="ru-RU" sz="44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629551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>
                <a:ln>
                  <a:solidFill>
                    <a:sysClr val="windowText" lastClr="000000"/>
                  </a:solidFill>
                </a:ln>
              </a:rPr>
              <a:t>Задача № 1 </a:t>
            </a:r>
            <a:r>
              <a:rPr lang="ru-RU" sz="2800" dirty="0" smtClean="0"/>
              <a:t>выполнялась методом изучения и обобщения содержания атласов-определителей растений Москвы, для выявления наиболее оптимальных способов оформления карманного </a:t>
            </a:r>
            <a:r>
              <a:rPr lang="ru-RU" sz="2800" dirty="0" smtClean="0"/>
              <a:t>атласа </a:t>
            </a:r>
            <a:r>
              <a:rPr lang="ru-RU" sz="2800" dirty="0" smtClean="0"/>
              <a:t>определителя деревьев;</a:t>
            </a:r>
          </a:p>
          <a:p>
            <a:pPr algn="just"/>
            <a:r>
              <a:rPr lang="ru-RU" sz="2800" dirty="0" smtClean="0">
                <a:ln>
                  <a:solidFill>
                    <a:sysClr val="windowText" lastClr="000000"/>
                  </a:solidFill>
                </a:ln>
              </a:rPr>
              <a:t>Задача № 4: </a:t>
            </a:r>
            <a:r>
              <a:rPr lang="ru-RU" sz="2800" dirty="0" smtClean="0"/>
              <a:t>выполнялась методом </a:t>
            </a:r>
            <a:r>
              <a:rPr lang="ru-RU" sz="2800" i="1" dirty="0" smtClean="0"/>
              <a:t>описания </a:t>
            </a:r>
            <a:r>
              <a:rPr lang="ru-RU" sz="2800" i="1" dirty="0" err="1" smtClean="0"/>
              <a:t>анатомоморфологических</a:t>
            </a:r>
            <a:r>
              <a:rPr lang="ru-RU" sz="2800" i="1" dirty="0" smtClean="0"/>
              <a:t> признаков выбранных видов </a:t>
            </a:r>
            <a:r>
              <a:rPr lang="ru-RU" sz="2800" i="1" dirty="0" err="1" smtClean="0"/>
              <a:t>дереьвьев</a:t>
            </a:r>
            <a:r>
              <a:rPr lang="ru-RU" sz="2800" i="1" dirty="0" smtClean="0"/>
              <a:t>, для внесения данных в атлас </a:t>
            </a:r>
            <a:r>
              <a:rPr lang="ru-RU" sz="2800" dirty="0" smtClean="0"/>
              <a:t>;</a:t>
            </a:r>
            <a:endParaRPr lang="ru-RU" sz="2800" dirty="0"/>
          </a:p>
          <a:p>
            <a:pPr algn="just"/>
            <a:r>
              <a:rPr lang="ru-RU" sz="2800" dirty="0" smtClean="0">
                <a:ln>
                  <a:solidFill>
                    <a:sysClr val="windowText" lastClr="000000"/>
                  </a:solidFill>
                </a:ln>
              </a:rPr>
              <a:t>3адача № 5</a:t>
            </a:r>
            <a:r>
              <a:rPr lang="ru-RU" sz="2800" dirty="0" smtClean="0"/>
              <a:t>: </a:t>
            </a:r>
            <a:r>
              <a:rPr lang="ru-RU" sz="2800" dirty="0" smtClean="0"/>
              <a:t>Планируется </a:t>
            </a:r>
            <a:r>
              <a:rPr lang="ru-RU" sz="2800" dirty="0" smtClean="0"/>
              <a:t>выполнять </a:t>
            </a:r>
            <a:r>
              <a:rPr lang="ru-RU" sz="2800" dirty="0" smtClean="0"/>
              <a:t>методом.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4182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ИНФОРМАЦИОННАЯ ПРОРАБОТАННОСТЬ</a:t>
            </a:r>
            <a:endParaRPr lang="ru-RU" sz="44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844853"/>
            <a:ext cx="118326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Какие источники изучали?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Какую информацию из них использовали? 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Что нового </a:t>
            </a:r>
            <a:r>
              <a:rPr lang="ru-RU" sz="3600" dirty="0" smtClean="0"/>
              <a:t>узнали ?</a:t>
            </a:r>
            <a:endParaRPr lang="ru-RU" sz="3600" dirty="0" smtClean="0"/>
          </a:p>
          <a:p>
            <a:r>
              <a:rPr lang="ru-RU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Как это продвинуло вас к достижению цели</a:t>
            </a:r>
          </a:p>
        </p:txBody>
      </p:sp>
    </p:spTree>
    <p:extLst>
      <p:ext uri="{BB962C8B-B14F-4D97-AF65-F5344CB8AC3E}">
        <p14:creationId xmlns:p14="http://schemas.microsoft.com/office/powerpoint/2010/main" val="238549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5370" t="17800" r="13333" b="12300"/>
          <a:stretch/>
        </p:blipFill>
        <p:spPr>
          <a:xfrm>
            <a:off x="-23268" y="0"/>
            <a:ext cx="12215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96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ЗАКЛЮЧЕНИЕ ПО ТЕОРЕТИЧЕСКОЙ ЧАСТИ</a:t>
            </a:r>
            <a:endParaRPr lang="ru-RU" sz="44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844853"/>
            <a:ext cx="118326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</p:txBody>
      </p:sp>
    </p:spTree>
    <p:extLst>
      <p:ext uri="{BB962C8B-B14F-4D97-AF65-F5344CB8AC3E}">
        <p14:creationId xmlns:p14="http://schemas.microsoft.com/office/powerpoint/2010/main" val="821605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5167" t="17618" r="13334" b="11368"/>
          <a:stretch/>
        </p:blipFill>
        <p:spPr>
          <a:xfrm>
            <a:off x="0" y="0"/>
            <a:ext cx="1232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98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ПРЕДСТАВЛЕНИЕ ПРОДУКТА</a:t>
            </a:r>
            <a:endParaRPr lang="ru-RU" sz="4400" b="1" i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104881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/>
              <a:t>Заполняется для итоговой защиты всего проекта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2540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08547" y="172197"/>
            <a:ext cx="11832657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ru-RU" sz="4400" b="1" i="1" dirty="0" smtClean="0"/>
              <a:t>ЗАКЛЮЧЕНИЕ ПО ПРОЕКТУ</a:t>
            </a:r>
            <a:endParaRPr lang="ru-RU" sz="44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08547" y="1064892"/>
            <a:ext cx="118326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Заполняется для итоговой защиты всего </a:t>
            </a:r>
            <a:r>
              <a:rPr lang="ru-RU" sz="3600" dirty="0" smtClean="0"/>
              <a:t>проекта</a:t>
            </a:r>
            <a:endParaRPr lang="ru-RU" sz="3600" dirty="0" smtClean="0"/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  <a:p>
            <a:r>
              <a:rPr lang="ru-RU" sz="3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3600" dirty="0" smtClean="0"/>
              <a:t>Тезис …</a:t>
            </a:r>
          </a:p>
        </p:txBody>
      </p:sp>
    </p:spTree>
    <p:extLst>
      <p:ext uri="{BB962C8B-B14F-4D97-AF65-F5344CB8AC3E}">
        <p14:creationId xmlns:p14="http://schemas.microsoft.com/office/powerpoint/2010/main" val="115290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610</Words>
  <Application>Microsoft Office PowerPoint</Application>
  <PresentationFormat>Широкоэкранный</PresentationFormat>
  <Paragraphs>86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индивидуальный проект / исследование  на тему: «?»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School-687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Ganew</dc:creator>
  <cp:lastModifiedBy>W7</cp:lastModifiedBy>
  <cp:revision>182</cp:revision>
  <dcterms:created xsi:type="dcterms:W3CDTF">2020-09-11T01:39:42Z</dcterms:created>
  <dcterms:modified xsi:type="dcterms:W3CDTF">2020-11-13T14:14:26Z</dcterms:modified>
</cp:coreProperties>
</file>