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9" r:id="rId2"/>
    <p:sldId id="275" r:id="rId3"/>
    <p:sldId id="276" r:id="rId4"/>
    <p:sldId id="282" r:id="rId5"/>
    <p:sldId id="280" r:id="rId6"/>
    <p:sldId id="281" r:id="rId7"/>
    <p:sldId id="278" r:id="rId8"/>
    <p:sldId id="284" r:id="rId9"/>
    <p:sldId id="286" r:id="rId10"/>
    <p:sldId id="285"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v" initials="l" lastIdx="1" clrIdx="0">
    <p:extLst>
      <p:ext uri="{19B8F6BF-5375-455C-9EA6-DF929625EA0E}">
        <p15:presenceInfo xmlns:p15="http://schemas.microsoft.com/office/powerpoint/2012/main" userId="le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15" autoAdjust="0"/>
    <p:restoredTop sz="66503" autoAdjust="0"/>
  </p:normalViewPr>
  <p:slideViewPr>
    <p:cSldViewPr snapToGrid="0">
      <p:cViewPr varScale="1">
        <p:scale>
          <a:sx n="58" d="100"/>
          <a:sy n="58" d="100"/>
        </p:scale>
        <p:origin x="141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6A08E-0D03-4C9B-B50A-16B2DC132B7B}" type="datetimeFigureOut">
              <a:rPr lang="ru-RU" smtClean="0"/>
              <a:t>16.11.2020</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8D7A1-8F99-4ED6-AF78-1B700B21EAF2}" type="slidenum">
              <a:rPr lang="ru-RU" smtClean="0"/>
              <a:t>‹#›</a:t>
            </a:fld>
            <a:endParaRPr lang="ru-RU"/>
          </a:p>
        </p:txBody>
      </p:sp>
    </p:spTree>
    <p:extLst>
      <p:ext uri="{BB962C8B-B14F-4D97-AF65-F5344CB8AC3E}">
        <p14:creationId xmlns:p14="http://schemas.microsoft.com/office/powerpoint/2010/main" val="1229296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Здравствуйте, многоуважаемая комиссия! Меня зовут Свиридов Л.Г, я ученик 11 Ф класса школы Покровский квартал и я рад представить вам свой проект на тему Создание школьного сайта как источника по предмету биологи.</a:t>
            </a:r>
          </a:p>
        </p:txBody>
      </p:sp>
      <p:sp>
        <p:nvSpPr>
          <p:cNvPr id="4" name="Номер слайда 3"/>
          <p:cNvSpPr>
            <a:spLocks noGrp="1"/>
          </p:cNvSpPr>
          <p:nvPr>
            <p:ph type="sldNum" sz="quarter" idx="5"/>
          </p:nvPr>
        </p:nvSpPr>
        <p:spPr/>
        <p:txBody>
          <a:bodyPr/>
          <a:lstStyle/>
          <a:p>
            <a:fld id="{ABD8D7A1-8F99-4ED6-AF78-1B700B21EAF2}" type="slidenum">
              <a:rPr lang="ru-RU" smtClean="0"/>
              <a:t>1</a:t>
            </a:fld>
            <a:endParaRPr lang="ru-RU"/>
          </a:p>
        </p:txBody>
      </p:sp>
    </p:spTree>
    <p:extLst>
      <p:ext uri="{BB962C8B-B14F-4D97-AF65-F5344CB8AC3E}">
        <p14:creationId xmlns:p14="http://schemas.microsoft.com/office/powerpoint/2010/main" val="1881393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Целью моего проекта является создание открытого интернет сайта, который призван частично решить проблему нехватки верифицированных научных источников в интернете, связанных с биологией. Для достижения этой цели мне нужно было выполнить ряд задач. Первым делом мне нужно было узнать основные способы создания сайтов и выбрать самый подходящий для того, чтобы максимально эффективно работать над выполнением продукта и гарантированно достичь желаемой цели. После определения со способом создания мне нужно было разработать макет будущего сайта на бумаге для того, чтобы потом по нему сверстать  интерфейс или </a:t>
            </a:r>
            <a:r>
              <a:rPr lang="en-US" sz="1200" kern="1200" dirty="0">
                <a:solidFill>
                  <a:schemeClr val="tx1"/>
                </a:solidFill>
                <a:effectLst/>
                <a:latin typeface="+mn-lt"/>
                <a:ea typeface="+mn-ea"/>
                <a:cs typeface="+mn-cs"/>
              </a:rPr>
              <a:t>frontend </a:t>
            </a:r>
            <a:r>
              <a:rPr lang="ru-RU" sz="1200" kern="1200" dirty="0">
                <a:solidFill>
                  <a:schemeClr val="tx1"/>
                </a:solidFill>
                <a:effectLst/>
                <a:latin typeface="+mn-lt"/>
                <a:ea typeface="+mn-ea"/>
                <a:cs typeface="+mn-cs"/>
              </a:rPr>
              <a:t>часть сайта.</a:t>
            </a:r>
            <a:r>
              <a:rPr lang="ru-RU" sz="1200" kern="1200" dirty="0">
                <a:solidFill>
                  <a:schemeClr val="tx1"/>
                </a:solidFill>
                <a:effectLst/>
                <a:highlight>
                  <a:srgbClr val="C0C0C0"/>
                </a:highlight>
                <a:latin typeface="+mn-lt"/>
                <a:ea typeface="+mn-ea"/>
                <a:cs typeface="+mn-cs"/>
              </a:rPr>
              <a:t> </a:t>
            </a:r>
            <a:r>
              <a:rPr lang="ru-RU" sz="1200" kern="1200" dirty="0">
                <a:solidFill>
                  <a:schemeClr val="tx1"/>
                </a:solidFill>
                <a:effectLst/>
                <a:highlight>
                  <a:srgbClr val="808080"/>
                </a:highlight>
                <a:latin typeface="+mn-lt"/>
                <a:ea typeface="+mn-ea"/>
                <a:cs typeface="+mn-cs"/>
              </a:rPr>
              <a:t>После </a:t>
            </a:r>
            <a:r>
              <a:rPr lang="ru-RU" sz="1200" kern="1200" dirty="0">
                <a:solidFill>
                  <a:schemeClr val="tx1"/>
                </a:solidFill>
                <a:effectLst/>
                <a:latin typeface="+mn-lt"/>
                <a:ea typeface="+mn-ea"/>
                <a:cs typeface="+mn-cs"/>
              </a:rPr>
              <a:t>того как был разработан шаблон сайта, мне нужно было его воплотить в цифровом виде – наконец таки сделать из его веб страничку, которая открывалась бы в браузере. Для этого мне нужно было получить</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необходимые знания о </a:t>
            </a:r>
            <a:r>
              <a:rPr lang="en-US" sz="1200" kern="1200" dirty="0">
                <a:solidFill>
                  <a:schemeClr val="tx1"/>
                </a:solidFill>
                <a:effectLst/>
                <a:latin typeface="+mn-lt"/>
                <a:ea typeface="+mn-ea"/>
                <a:cs typeface="+mn-cs"/>
              </a:rPr>
              <a:t>frontend </a:t>
            </a:r>
            <a:r>
              <a:rPr lang="ru-RU" sz="1200" kern="1200" dirty="0">
                <a:solidFill>
                  <a:schemeClr val="tx1"/>
                </a:solidFill>
                <a:effectLst/>
                <a:latin typeface="+mn-lt"/>
                <a:ea typeface="+mn-ea"/>
                <a:cs typeface="+mn-cs"/>
              </a:rPr>
              <a:t>разработке, конкретно тех </a:t>
            </a:r>
            <a:r>
              <a:rPr lang="en-US" sz="1200" kern="1200" dirty="0">
                <a:solidFill>
                  <a:schemeClr val="tx1"/>
                </a:solidFill>
                <a:effectLst/>
                <a:latin typeface="+mn-lt"/>
                <a:ea typeface="+mn-ea"/>
                <a:cs typeface="+mn-cs"/>
              </a:rPr>
              <a:t>HTML </a:t>
            </a:r>
            <a:r>
              <a:rPr lang="ru-RU" sz="1200" kern="1200" dirty="0">
                <a:solidFill>
                  <a:schemeClr val="tx1"/>
                </a:solidFill>
                <a:effectLst/>
                <a:latin typeface="+mn-lt"/>
                <a:ea typeface="+mn-ea"/>
                <a:cs typeface="+mn-cs"/>
              </a:rPr>
              <a:t>тегах и свойствах </a:t>
            </a:r>
            <a:r>
              <a:rPr lang="en-US" sz="1200" kern="1200" dirty="0">
                <a:solidFill>
                  <a:schemeClr val="tx1"/>
                </a:solidFill>
                <a:effectLst/>
                <a:latin typeface="+mn-lt"/>
                <a:ea typeface="+mn-ea"/>
                <a:cs typeface="+mn-cs"/>
              </a:rPr>
              <a:t>CSS</a:t>
            </a:r>
            <a:r>
              <a:rPr lang="ru-RU" sz="1200" kern="1200" dirty="0">
                <a:solidFill>
                  <a:schemeClr val="tx1"/>
                </a:solidFill>
                <a:effectLst/>
                <a:latin typeface="+mn-lt"/>
                <a:ea typeface="+mn-ea"/>
                <a:cs typeface="+mn-cs"/>
              </a:rPr>
              <a:t>, которые будут мне нужны для воплощения бумажного шаблона в виде веб страницы. Далее, с помощью изученных тегов </a:t>
            </a:r>
            <a:r>
              <a:rPr lang="en-US" sz="1200" kern="1200" dirty="0">
                <a:solidFill>
                  <a:schemeClr val="tx1"/>
                </a:solidFill>
                <a:effectLst/>
                <a:latin typeface="+mn-lt"/>
                <a:ea typeface="+mn-ea"/>
                <a:cs typeface="+mn-cs"/>
              </a:rPr>
              <a:t>HTML </a:t>
            </a:r>
            <a:r>
              <a:rPr lang="ru-RU" sz="1200" kern="1200" dirty="0">
                <a:solidFill>
                  <a:schemeClr val="tx1"/>
                </a:solidFill>
                <a:effectLst/>
                <a:latin typeface="+mn-lt"/>
                <a:ea typeface="+mn-ea"/>
                <a:cs typeface="+mn-cs"/>
              </a:rPr>
              <a:t>и свойств </a:t>
            </a:r>
            <a:r>
              <a:rPr lang="en-US" sz="1200" kern="1200" dirty="0">
                <a:solidFill>
                  <a:schemeClr val="tx1"/>
                </a:solidFill>
                <a:effectLst/>
                <a:latin typeface="+mn-lt"/>
                <a:ea typeface="+mn-ea"/>
                <a:cs typeface="+mn-cs"/>
              </a:rPr>
              <a:t>CSS </a:t>
            </a:r>
            <a:r>
              <a:rPr lang="ru-RU" sz="1200" kern="1200" dirty="0">
                <a:solidFill>
                  <a:schemeClr val="tx1"/>
                </a:solidFill>
                <a:effectLst/>
                <a:latin typeface="+mn-lt"/>
                <a:ea typeface="+mn-ea"/>
                <a:cs typeface="+mn-cs"/>
              </a:rPr>
              <a:t>я превратил бумажный рисунок в веб страницу и получил работающий интерфейс сайта, но он еще не был наполнен материалами. Далее мне следовало получить необходимые знания о </a:t>
            </a:r>
            <a:r>
              <a:rPr lang="en-US" sz="1200" kern="1200" dirty="0">
                <a:solidFill>
                  <a:schemeClr val="tx1"/>
                </a:solidFill>
                <a:effectLst/>
                <a:latin typeface="+mn-lt"/>
                <a:ea typeface="+mn-ea"/>
                <a:cs typeface="+mn-cs"/>
              </a:rPr>
              <a:t>Django(</a:t>
            </a:r>
            <a:r>
              <a:rPr lang="ru-RU" sz="1200" kern="1200" dirty="0">
                <a:solidFill>
                  <a:schemeClr val="tx1"/>
                </a:solidFill>
                <a:effectLst/>
                <a:latin typeface="+mn-lt"/>
                <a:ea typeface="+mn-ea"/>
                <a:cs typeface="+mn-cs"/>
              </a:rPr>
              <a:t>у меня версия </a:t>
            </a:r>
            <a:r>
              <a:rPr lang="en-US" sz="1200" kern="1200" dirty="0">
                <a:solidFill>
                  <a:schemeClr val="tx1"/>
                </a:solidFill>
                <a:effectLst/>
                <a:latin typeface="+mn-lt"/>
                <a:ea typeface="+mn-ea"/>
                <a:cs typeface="+mn-cs"/>
              </a:rPr>
              <a:t>Django 3.1.0 </a:t>
            </a:r>
            <a:r>
              <a:rPr lang="ru-RU" sz="1200" kern="1200" dirty="0">
                <a:solidFill>
                  <a:schemeClr val="tx1"/>
                </a:solidFill>
                <a:effectLst/>
                <a:latin typeface="+mn-lt"/>
                <a:ea typeface="+mn-ea"/>
                <a:cs typeface="+mn-cs"/>
              </a:rPr>
              <a:t>и </a:t>
            </a:r>
            <a:r>
              <a:rPr lang="en-US" sz="1200" kern="1200" dirty="0">
                <a:solidFill>
                  <a:schemeClr val="tx1"/>
                </a:solidFill>
                <a:effectLst/>
                <a:latin typeface="+mn-lt"/>
                <a:ea typeface="+mn-ea"/>
                <a:cs typeface="+mn-cs"/>
              </a:rPr>
              <a:t>python 3.6)</a:t>
            </a:r>
            <a:r>
              <a:rPr lang="ru-RU" sz="1200" kern="1200" dirty="0">
                <a:solidFill>
                  <a:schemeClr val="tx1"/>
                </a:solidFill>
                <a:effectLst/>
                <a:latin typeface="+mn-lt"/>
                <a:ea typeface="+mn-ea"/>
                <a:cs typeface="+mn-cs"/>
              </a:rPr>
              <a:t>, которые помогли бы мне создать админ панель сайта, для того чтобы пользователь, который не умеет программировать мог сам добавлять материалы на сайт. Далее мне нужно было собрать два, до выполнения этой задачи раздельных, компонента. Соединить воедино </a:t>
            </a:r>
            <a:r>
              <a:rPr lang="ru-RU" sz="1200" kern="1200" dirty="0" err="1">
                <a:solidFill>
                  <a:schemeClr val="tx1"/>
                </a:solidFill>
                <a:effectLst/>
                <a:latin typeface="+mn-lt"/>
                <a:ea typeface="+mn-ea"/>
                <a:cs typeface="+mn-cs"/>
              </a:rPr>
              <a:t>бекенд</a:t>
            </a:r>
            <a:r>
              <a:rPr lang="ru-RU" sz="1200" kern="1200" dirty="0">
                <a:solidFill>
                  <a:schemeClr val="tx1"/>
                </a:solidFill>
                <a:effectLst/>
                <a:latin typeface="+mn-lt"/>
                <a:ea typeface="+mn-ea"/>
                <a:cs typeface="+mn-cs"/>
              </a:rPr>
              <a:t> - понятная пользователю админ-панель для наполнения сайта и </a:t>
            </a:r>
            <a:r>
              <a:rPr lang="ru-RU" sz="1200" kern="1200" dirty="0" err="1">
                <a:solidFill>
                  <a:schemeClr val="tx1"/>
                </a:solidFill>
                <a:effectLst/>
                <a:latin typeface="+mn-lt"/>
                <a:ea typeface="+mn-ea"/>
                <a:cs typeface="+mn-cs"/>
              </a:rPr>
              <a:t>фронтенд</a:t>
            </a:r>
            <a:r>
              <a:rPr lang="ru-RU" sz="1200" kern="1200" dirty="0">
                <a:solidFill>
                  <a:schemeClr val="tx1"/>
                </a:solidFill>
                <a:effectLst/>
                <a:latin typeface="+mn-lt"/>
                <a:ea typeface="+mn-ea"/>
                <a:cs typeface="+mn-cs"/>
              </a:rPr>
              <a:t> – пользовательский интерфейс – кнопки, картинки и текст – привычная форма для восприятия информации, но без наполнения. Одним словом - получить продукт, готовый к использованию конечным потребителем – обычным пользователем, чтобы тот мог сразу приступить к наполнению. Далее я выложил сайт на хостинг для того чтобы сделать его доступным для всех и сделать возможным его тестирование.</a:t>
            </a:r>
            <a:endParaRPr lang="ru-RU" dirty="0"/>
          </a:p>
        </p:txBody>
      </p:sp>
      <p:sp>
        <p:nvSpPr>
          <p:cNvPr id="4" name="Номер слайда 3"/>
          <p:cNvSpPr>
            <a:spLocks noGrp="1"/>
          </p:cNvSpPr>
          <p:nvPr>
            <p:ph type="sldNum" sz="quarter" idx="5"/>
          </p:nvPr>
        </p:nvSpPr>
        <p:spPr/>
        <p:txBody>
          <a:bodyPr/>
          <a:lstStyle/>
          <a:p>
            <a:fld id="{ABD8D7A1-8F99-4ED6-AF78-1B700B21EAF2}" type="slidenum">
              <a:rPr lang="ru-RU" smtClean="0"/>
              <a:t>2</a:t>
            </a:fld>
            <a:endParaRPr lang="ru-RU"/>
          </a:p>
        </p:txBody>
      </p:sp>
    </p:spTree>
    <p:extLst>
      <p:ext uri="{BB962C8B-B14F-4D97-AF65-F5344CB8AC3E}">
        <p14:creationId xmlns:p14="http://schemas.microsoft.com/office/powerpoint/2010/main" val="280199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При выполнении задачи 1(</a:t>
            </a:r>
            <a:r>
              <a:rPr lang="ru-RU" sz="1200" dirty="0"/>
              <a:t>Узнать основные способы создания сайтов и выбрать подходящий.) я анализировал научные источники, которые позволили мне выбрать способ создания сайта, который лучше всего подходит проекту.</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Для создания интерфейса своего сайта я изучил внешний вид интерфейсов схожих интернет ресурсов и смоделировал свой вариант.</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Задача 3(Получить необходимые знания о </a:t>
            </a:r>
            <a:r>
              <a:rPr lang="en-US" sz="1200" dirty="0"/>
              <a:t>frontend </a:t>
            </a:r>
            <a:r>
              <a:rPr lang="ru-RU" sz="1200" dirty="0"/>
              <a:t>разработке для воплощения шаблона в виде веб страницы.) была выполнена при помощи метода эксперимента который был нацелен на изменение исходного кода, готовых шаблонов с последующим просмотром результата изменений, в интерактивной обучающей среде </a:t>
            </a:r>
            <a:r>
              <a:rPr lang="ru-RU" sz="1200" dirty="0" err="1"/>
              <a:t>Яндекс.Практикум</a:t>
            </a:r>
            <a:r>
              <a:rPr lang="ru-RU" sz="1200" dirty="0"/>
              <a:t>, курса Веб-разработчик.</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Задача 4(Создать веб-страницу по разработанному шаблону.) выполнялась при помощи метода тестирования кода в браузере. То есть правильно ли отображается моя страница с теми тегами и свойствами, которые я только-что описал?</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При выполнении задачи 5(Получить необходимые знания о веб-фреймворке </a:t>
            </a:r>
            <a:r>
              <a:rPr lang="en-US" sz="1200" dirty="0"/>
              <a:t>Django, </a:t>
            </a:r>
            <a:r>
              <a:rPr lang="ru-RU" sz="1200" dirty="0"/>
              <a:t>для создания админ-панели сайта.) я использовал метод изучения нужной мне информации и последующего ее обобщения, чтобы в результате ей воспользоваться для того чтобы создать админ-панель сайта.</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Для того чтобы выполнить задачу 6 мне потребовалось провести эксперимент по соединению серверной и клиентской части сайта и позже протестировать результат, который получился после эксперимента, для того чтобы быть уверенным в его работоспособности.</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Для выполнения 7й задачи мне потребовалось изучение и обобщение знаний о линуксе, т.к сервер, на котором я собирался размещать сайт, был именно с этой системой на борту. После обобщения знаний о линуксе мне предстояло поэкспериментировать с конфигурацией сервера и протестировать ее работоспособность, для того чтобы быть уверенным что сайт будет доступен в интернете.</a:t>
            </a:r>
          </a:p>
        </p:txBody>
      </p:sp>
      <p:sp>
        <p:nvSpPr>
          <p:cNvPr id="4" name="Номер слайда 3"/>
          <p:cNvSpPr>
            <a:spLocks noGrp="1"/>
          </p:cNvSpPr>
          <p:nvPr>
            <p:ph type="sldNum" sz="quarter" idx="5"/>
          </p:nvPr>
        </p:nvSpPr>
        <p:spPr/>
        <p:txBody>
          <a:bodyPr/>
          <a:lstStyle/>
          <a:p>
            <a:fld id="{ABD8D7A1-8F99-4ED6-AF78-1B700B21EAF2}" type="slidenum">
              <a:rPr lang="ru-RU" smtClean="0"/>
              <a:t>3</a:t>
            </a:fld>
            <a:endParaRPr lang="ru-RU"/>
          </a:p>
        </p:txBody>
      </p:sp>
    </p:spTree>
    <p:extLst>
      <p:ext uri="{BB962C8B-B14F-4D97-AF65-F5344CB8AC3E}">
        <p14:creationId xmlns:p14="http://schemas.microsoft.com/office/powerpoint/2010/main" val="290485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Одним из основных источников, которым я пользовался при выборе способа создания сайта служит этот документ - АНАЛИЗ WEB-ТЕХНОЛОГИЙ ДЛЯ СОЗДАНИЯ ОНЛАЙН-ПЛОЩАДКИ Виктории Васильевны Мальцевой Анны Сергеевны Фроловой. Там приведены сравнительные таблицы конструкторов и </a:t>
            </a:r>
            <a:r>
              <a:rPr lang="en-US" dirty="0" err="1"/>
              <a:t>cms</a:t>
            </a:r>
            <a:r>
              <a:rPr lang="en-US" dirty="0"/>
              <a:t>, </a:t>
            </a:r>
            <a:r>
              <a:rPr lang="ru-RU" dirty="0"/>
              <a:t>описаны все 3 способа создания сайта, а также их сравнение между собой.</a:t>
            </a:r>
          </a:p>
          <a:p>
            <a:pPr marL="285750" indent="-285750">
              <a:buFont typeface="Arial" panose="020B0604020202020204" pitchFamily="34" charset="0"/>
              <a:buChar char="•"/>
            </a:pPr>
            <a:r>
              <a:rPr lang="ru-RU" sz="1200" dirty="0"/>
              <a:t>Сравнительные таблицы </a:t>
            </a:r>
            <a:r>
              <a:rPr lang="en-US" sz="1200" dirty="0"/>
              <a:t>CMS </a:t>
            </a:r>
            <a:r>
              <a:rPr lang="ru-RU" sz="1200" dirty="0"/>
              <a:t>и конструкторов</a:t>
            </a:r>
            <a:endParaRPr lang="en-US" sz="1200" dirty="0"/>
          </a:p>
          <a:p>
            <a:pPr marL="285750" indent="-285750">
              <a:buFont typeface="Arial" panose="020B0604020202020204" pitchFamily="34" charset="0"/>
              <a:buChar char="•"/>
            </a:pPr>
            <a:r>
              <a:rPr lang="ru-RU" sz="1200" dirty="0"/>
              <a:t>Определение способов создания сайта</a:t>
            </a:r>
          </a:p>
          <a:p>
            <a:pPr marL="285750" indent="-285750">
              <a:buFont typeface="Arial" panose="020B0604020202020204" pitchFamily="34" charset="0"/>
              <a:buChar char="•"/>
            </a:pPr>
            <a:r>
              <a:rPr lang="ru-RU" sz="1200" dirty="0"/>
              <a:t>Анализ плюсов и минусов каждого из способов</a:t>
            </a:r>
          </a:p>
          <a:p>
            <a:endParaRPr lang="ru-RU" dirty="0"/>
          </a:p>
        </p:txBody>
      </p:sp>
      <p:sp>
        <p:nvSpPr>
          <p:cNvPr id="4" name="Номер слайда 3"/>
          <p:cNvSpPr>
            <a:spLocks noGrp="1"/>
          </p:cNvSpPr>
          <p:nvPr>
            <p:ph type="sldNum" sz="quarter" idx="5"/>
          </p:nvPr>
        </p:nvSpPr>
        <p:spPr/>
        <p:txBody>
          <a:bodyPr/>
          <a:lstStyle/>
          <a:p>
            <a:fld id="{ABD8D7A1-8F99-4ED6-AF78-1B700B21EAF2}" type="slidenum">
              <a:rPr lang="ru-RU" smtClean="0"/>
              <a:t>4</a:t>
            </a:fld>
            <a:endParaRPr lang="ru-RU"/>
          </a:p>
        </p:txBody>
      </p:sp>
    </p:spTree>
    <p:extLst>
      <p:ext uri="{BB962C8B-B14F-4D97-AF65-F5344CB8AC3E}">
        <p14:creationId xmlns:p14="http://schemas.microsoft.com/office/powerpoint/2010/main" val="4006381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Курс веб-разработчик от Яндекс практикума дал мне знания о том, как строится </a:t>
            </a:r>
            <a:r>
              <a:rPr lang="en-US" dirty="0"/>
              <a:t>HTML </a:t>
            </a:r>
            <a:r>
              <a:rPr lang="ru-RU" dirty="0"/>
              <a:t>документ, дал понятие об основных тегах </a:t>
            </a:r>
            <a:r>
              <a:rPr lang="en-US" dirty="0"/>
              <a:t>HTML, </a:t>
            </a:r>
            <a:r>
              <a:rPr lang="ru-RU" dirty="0"/>
              <a:t>о классах </a:t>
            </a:r>
            <a:r>
              <a:rPr lang="en-US" dirty="0"/>
              <a:t>CSS</a:t>
            </a:r>
            <a:r>
              <a:rPr lang="ru-RU" dirty="0"/>
              <a:t>, о стилизации </a:t>
            </a:r>
            <a:r>
              <a:rPr lang="en-US" dirty="0"/>
              <a:t>HTML </a:t>
            </a:r>
            <a:r>
              <a:rPr lang="ru-RU" dirty="0"/>
              <a:t>элементов с помощью </a:t>
            </a:r>
            <a:r>
              <a:rPr lang="en-US" dirty="0"/>
              <a:t>CSS </a:t>
            </a:r>
            <a:r>
              <a:rPr lang="ru-RU" dirty="0"/>
              <a:t>кода, а также дал знание о том, как подключать внешние файлы, такие как картинки, файлы стилей и шрифтов.</a:t>
            </a:r>
          </a:p>
          <a:p>
            <a:endParaRPr lang="ru-RU" dirty="0"/>
          </a:p>
        </p:txBody>
      </p:sp>
      <p:sp>
        <p:nvSpPr>
          <p:cNvPr id="4" name="Номер слайда 3"/>
          <p:cNvSpPr>
            <a:spLocks noGrp="1"/>
          </p:cNvSpPr>
          <p:nvPr>
            <p:ph type="sldNum" sz="quarter" idx="5"/>
          </p:nvPr>
        </p:nvSpPr>
        <p:spPr/>
        <p:txBody>
          <a:bodyPr/>
          <a:lstStyle/>
          <a:p>
            <a:fld id="{ABD8D7A1-8F99-4ED6-AF78-1B700B21EAF2}" type="slidenum">
              <a:rPr lang="ru-RU" smtClean="0"/>
              <a:t>5</a:t>
            </a:fld>
            <a:endParaRPr lang="ru-RU"/>
          </a:p>
        </p:txBody>
      </p:sp>
    </p:spTree>
    <p:extLst>
      <p:ext uri="{BB962C8B-B14F-4D97-AF65-F5344CB8AC3E}">
        <p14:creationId xmlns:p14="http://schemas.microsoft.com/office/powerpoint/2010/main" val="235282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err="1"/>
              <a:t>Mdn</a:t>
            </a:r>
            <a:r>
              <a:rPr lang="en-US" dirty="0"/>
              <a:t> </a:t>
            </a:r>
            <a:r>
              <a:rPr lang="en-US" dirty="0" err="1"/>
              <a:t>webdocs</a:t>
            </a:r>
            <a:r>
              <a:rPr lang="en-US" dirty="0"/>
              <a:t> </a:t>
            </a:r>
            <a:r>
              <a:rPr lang="ru-RU" dirty="0"/>
              <a:t>– это электронная документация для веб разработчиков, по разработке вебсайтов. На ней я получил знания об адаптивной верстке, получил документацию по веб-фреймворку </a:t>
            </a:r>
            <a:r>
              <a:rPr lang="en-US" dirty="0"/>
              <a:t>Django. </a:t>
            </a:r>
            <a:r>
              <a:rPr lang="ru-RU" dirty="0"/>
              <a:t>Благодаря именно этому ресурсу мне удалось создать Админ-панель сайта.</a:t>
            </a:r>
          </a:p>
        </p:txBody>
      </p:sp>
      <p:sp>
        <p:nvSpPr>
          <p:cNvPr id="4" name="Номер слайда 3"/>
          <p:cNvSpPr>
            <a:spLocks noGrp="1"/>
          </p:cNvSpPr>
          <p:nvPr>
            <p:ph type="sldNum" sz="quarter" idx="5"/>
          </p:nvPr>
        </p:nvSpPr>
        <p:spPr/>
        <p:txBody>
          <a:bodyPr/>
          <a:lstStyle/>
          <a:p>
            <a:fld id="{ABD8D7A1-8F99-4ED6-AF78-1B700B21EAF2}" type="slidenum">
              <a:rPr lang="ru-RU" smtClean="0"/>
              <a:t>6</a:t>
            </a:fld>
            <a:endParaRPr lang="ru-RU"/>
          </a:p>
        </p:txBody>
      </p:sp>
    </p:spTree>
    <p:extLst>
      <p:ext uri="{BB962C8B-B14F-4D97-AF65-F5344CB8AC3E}">
        <p14:creationId xmlns:p14="http://schemas.microsoft.com/office/powerpoint/2010/main" val="2878998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 результате после выполнения </a:t>
            </a:r>
            <a:r>
              <a:rPr lang="ru-RU" dirty="0" err="1"/>
              <a:t>теор.части</a:t>
            </a:r>
            <a:r>
              <a:rPr lang="ru-RU" dirty="0"/>
              <a:t> я смог выбрать наиболее подходящий способ создания сайта, и создать согласно ему сайт. Сейчас он уже доступен. Он находится на хостинге – вся запланированная функциональность реализована. Также, во время создания продукта мной была выполнена практическая часть проекта. Процесс создания описан во всех подробностях. Также, с помощью экспериментирования на ресурсах, что были ранее описаны получены необходимые знания о веб разработке.</a:t>
            </a:r>
          </a:p>
        </p:txBody>
      </p:sp>
      <p:sp>
        <p:nvSpPr>
          <p:cNvPr id="4" name="Номер слайда 3"/>
          <p:cNvSpPr>
            <a:spLocks noGrp="1"/>
          </p:cNvSpPr>
          <p:nvPr>
            <p:ph type="sldNum" sz="quarter" idx="5"/>
          </p:nvPr>
        </p:nvSpPr>
        <p:spPr/>
        <p:txBody>
          <a:bodyPr/>
          <a:lstStyle/>
          <a:p>
            <a:fld id="{ABD8D7A1-8F99-4ED6-AF78-1B700B21EAF2}" type="slidenum">
              <a:rPr lang="ru-RU" smtClean="0"/>
              <a:t>7</a:t>
            </a:fld>
            <a:endParaRPr lang="ru-RU"/>
          </a:p>
        </p:txBody>
      </p:sp>
    </p:spTree>
    <p:extLst>
      <p:ext uri="{BB962C8B-B14F-4D97-AF65-F5344CB8AC3E}">
        <p14:creationId xmlns:p14="http://schemas.microsoft.com/office/powerpoint/2010/main" val="3396888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Тут вы видите фото главной страницы моего сайта на нем вы можете увидеть:(краткий обзор всего, то на фото). Сайт обладает минималистичным интерфейсом, в котором не запутаться. Предоставляет пользователю не перегруженный внешний вид, в котором сделан упор на контент. Ничего не отвлекает пользователя от размещенной информации. Ну и соответственно </a:t>
            </a:r>
            <a:r>
              <a:rPr lang="ru-RU" sz="1200" kern="1200" dirty="0">
                <a:solidFill>
                  <a:schemeClr val="tx1"/>
                </a:solidFill>
                <a:effectLst/>
                <a:latin typeface="+mn-lt"/>
                <a:ea typeface="+mn-ea"/>
                <a:cs typeface="+mn-cs"/>
              </a:rPr>
              <a:t>польза от данного Интернет-ресурса очевидна. Любые посетители, в том числе школьники, изучающие биологию, или желающие ознакомиться с дополнительными материалами по этой теме, смогут получить нужную информацию во всех её наиболее доступных формах в цифровом формате и, быть уверенными насчет её авторитетности.</a:t>
            </a:r>
          </a:p>
          <a:p>
            <a:endParaRPr lang="ru-RU" dirty="0"/>
          </a:p>
        </p:txBody>
      </p:sp>
      <p:sp>
        <p:nvSpPr>
          <p:cNvPr id="4" name="Номер слайда 3"/>
          <p:cNvSpPr>
            <a:spLocks noGrp="1"/>
          </p:cNvSpPr>
          <p:nvPr>
            <p:ph type="sldNum" sz="quarter" idx="5"/>
          </p:nvPr>
        </p:nvSpPr>
        <p:spPr/>
        <p:txBody>
          <a:bodyPr/>
          <a:lstStyle/>
          <a:p>
            <a:fld id="{ABD8D7A1-8F99-4ED6-AF78-1B700B21EAF2}" type="slidenum">
              <a:rPr lang="ru-RU" smtClean="0"/>
              <a:t>8</a:t>
            </a:fld>
            <a:endParaRPr lang="ru-RU"/>
          </a:p>
        </p:txBody>
      </p:sp>
    </p:spTree>
    <p:extLst>
      <p:ext uri="{BB962C8B-B14F-4D97-AF65-F5344CB8AC3E}">
        <p14:creationId xmlns:p14="http://schemas.microsoft.com/office/powerpoint/2010/main" val="212723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Теперь я сделаю краткий обзор своего продукта.</a:t>
            </a:r>
          </a:p>
        </p:txBody>
      </p:sp>
      <p:sp>
        <p:nvSpPr>
          <p:cNvPr id="4" name="Номер слайда 3"/>
          <p:cNvSpPr>
            <a:spLocks noGrp="1"/>
          </p:cNvSpPr>
          <p:nvPr>
            <p:ph type="sldNum" sz="quarter" idx="5"/>
          </p:nvPr>
        </p:nvSpPr>
        <p:spPr/>
        <p:txBody>
          <a:bodyPr/>
          <a:lstStyle/>
          <a:p>
            <a:fld id="{ABD8D7A1-8F99-4ED6-AF78-1B700B21EAF2}" type="slidenum">
              <a:rPr lang="ru-RU" smtClean="0"/>
              <a:t>9</a:t>
            </a:fld>
            <a:endParaRPr lang="ru-RU"/>
          </a:p>
        </p:txBody>
      </p:sp>
    </p:spTree>
    <p:extLst>
      <p:ext uri="{BB962C8B-B14F-4D97-AF65-F5344CB8AC3E}">
        <p14:creationId xmlns:p14="http://schemas.microsoft.com/office/powerpoint/2010/main" val="1055660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Подводя итоги, я хочу сказать что поставленная цель в начале проекта мной достигнута. Все задачи выполнены и они привели меня к достижению цели. И </a:t>
            </a:r>
            <a:r>
              <a:rPr lang="ru-RU" sz="1200" dirty="0"/>
              <a:t>сайт, который призван частично решить проблему нехватки верифицированных научных источников в интернете был создан. Спасибо за внимание!</a:t>
            </a:r>
            <a:endParaRPr lang="ru-RU" dirty="0"/>
          </a:p>
        </p:txBody>
      </p:sp>
      <p:sp>
        <p:nvSpPr>
          <p:cNvPr id="4" name="Номер слайда 3"/>
          <p:cNvSpPr>
            <a:spLocks noGrp="1"/>
          </p:cNvSpPr>
          <p:nvPr>
            <p:ph type="sldNum" sz="quarter" idx="10"/>
          </p:nvPr>
        </p:nvSpPr>
        <p:spPr/>
        <p:txBody>
          <a:bodyPr/>
          <a:lstStyle/>
          <a:p>
            <a:fld id="{66BBC5AE-97E5-464C-827A-34A7BC314E76}" type="slidenum">
              <a:rPr lang="ru-RU" smtClean="0"/>
              <a:t>10</a:t>
            </a:fld>
            <a:endParaRPr lang="ru-RU"/>
          </a:p>
        </p:txBody>
      </p:sp>
    </p:spTree>
    <p:extLst>
      <p:ext uri="{BB962C8B-B14F-4D97-AF65-F5344CB8AC3E}">
        <p14:creationId xmlns:p14="http://schemas.microsoft.com/office/powerpoint/2010/main" val="1131531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2407727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2540311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3538017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644B9B3B-45C7-4E10-8D5D-52BA24EC9FDC}" type="datetimeFigureOut">
              <a:rPr lang="ru-RU" smtClean="0"/>
              <a:t>16.11.2020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2154101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644B9B3B-45C7-4E10-8D5D-52BA24EC9FDC}" type="datetimeFigureOut">
              <a:rPr lang="ru-RU" smtClean="0"/>
              <a:t>16.11.2020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1788796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644B9B3B-45C7-4E10-8D5D-52BA24EC9FDC}" type="datetimeFigureOut">
              <a:rPr lang="ru-RU" smtClean="0"/>
              <a:t>16.11.2020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3136402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644B9B3B-45C7-4E10-8D5D-52BA24EC9FDC}" type="datetimeFigureOut">
              <a:rPr lang="ru-RU" smtClean="0"/>
              <a:t>16.11.2020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168445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644B9B3B-45C7-4E10-8D5D-52BA24EC9FDC}" type="datetimeFigureOut">
              <a:rPr lang="ru-RU" smtClean="0"/>
              <a:t>16.11.2020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457017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644B9B3B-45C7-4E10-8D5D-52BA24EC9FDC}" type="datetimeFigureOut">
              <a:rPr lang="ru-RU" smtClean="0"/>
              <a:t>16.11.2020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1997538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379475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917F32D-E6F0-46D9-B10A-D19ADD864A79}" type="slidenum">
              <a:rPr lang="ru-RU" smtClean="0"/>
              <a:t>‹#›</a:t>
            </a:fld>
            <a:endParaRPr lang="ru-RU"/>
          </a:p>
        </p:txBody>
      </p:sp>
    </p:spTree>
    <p:extLst>
      <p:ext uri="{BB962C8B-B14F-4D97-AF65-F5344CB8AC3E}">
        <p14:creationId xmlns:p14="http://schemas.microsoft.com/office/powerpoint/2010/main" val="1902616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4B9B3B-45C7-4E10-8D5D-52BA24EC9FDC}" type="datetimeFigureOut">
              <a:rPr lang="ru-RU" smtClean="0"/>
              <a:t>16.11.2020</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17F32D-E6F0-46D9-B10A-D19ADD864A79}" type="slidenum">
              <a:rPr lang="ru-RU" smtClean="0"/>
              <a:t>‹#›</a:t>
            </a:fld>
            <a:endParaRPr lang="ru-RU"/>
          </a:p>
        </p:txBody>
      </p:sp>
    </p:spTree>
    <p:extLst>
      <p:ext uri="{BB962C8B-B14F-4D97-AF65-F5344CB8AC3E}">
        <p14:creationId xmlns:p14="http://schemas.microsoft.com/office/powerpoint/2010/main" val="1098793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ayodeni.pythonanywhere.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F31D35-B0D1-4712-93D2-7B31299D43FD}"/>
              </a:ext>
            </a:extLst>
          </p:cNvPr>
          <p:cNvSpPr>
            <a:spLocks noGrp="1"/>
          </p:cNvSpPr>
          <p:nvPr>
            <p:ph type="ctrTitle"/>
          </p:nvPr>
        </p:nvSpPr>
        <p:spPr>
          <a:xfrm>
            <a:off x="0" y="2556080"/>
            <a:ext cx="12192000" cy="1745839"/>
          </a:xfrm>
        </p:spPr>
        <p:txBody>
          <a:bodyPr>
            <a:normAutofit fontScale="90000"/>
          </a:bodyPr>
          <a:lstStyle/>
          <a:p>
            <a:r>
              <a:rPr lang="ru-RU" sz="3100" b="1" i="1" cap="all" dirty="0">
                <a:latin typeface="+mn-lt"/>
                <a:cs typeface="Times New Roman" panose="02020603050405020304" pitchFamily="18" charset="0"/>
              </a:rPr>
              <a:t>индивидуальный проект</a:t>
            </a:r>
            <a:br>
              <a:rPr lang="ru-RU" sz="3100" i="1" dirty="0">
                <a:latin typeface="+mn-lt"/>
                <a:cs typeface="Times New Roman" panose="02020603050405020304" pitchFamily="18" charset="0"/>
              </a:rPr>
            </a:br>
            <a:r>
              <a:rPr lang="ru-RU" sz="3100" b="1" i="1" cap="all" dirty="0">
                <a:latin typeface="+mn-lt"/>
                <a:cs typeface="Times New Roman" panose="02020603050405020304" pitchFamily="18" charset="0"/>
              </a:rPr>
              <a:t>на тему:</a:t>
            </a:r>
            <a:br>
              <a:rPr lang="ru-RU" sz="3100" i="1" dirty="0">
                <a:latin typeface="+mn-lt"/>
                <a:cs typeface="Times New Roman" panose="02020603050405020304" pitchFamily="18" charset="0"/>
              </a:rPr>
            </a:br>
            <a:r>
              <a:rPr lang="ru-RU" b="1" cap="all" spc="300" dirty="0">
                <a:latin typeface="+mn-lt"/>
                <a:cs typeface="Times New Roman" panose="02020603050405020304" pitchFamily="18" charset="0"/>
              </a:rPr>
              <a:t>«Создание школьного сайта как источника по предмету биология»</a:t>
            </a:r>
            <a:endParaRPr lang="ru-RU" spc="300" dirty="0">
              <a:latin typeface="+mn-lt"/>
            </a:endParaRPr>
          </a:p>
        </p:txBody>
      </p:sp>
      <p:sp>
        <p:nvSpPr>
          <p:cNvPr id="4" name="TextBox 3"/>
          <p:cNvSpPr txBox="1"/>
          <p:nvPr/>
        </p:nvSpPr>
        <p:spPr>
          <a:xfrm>
            <a:off x="5300750" y="6323952"/>
            <a:ext cx="1710596" cy="400110"/>
          </a:xfrm>
          <a:prstGeom prst="rect">
            <a:avLst/>
          </a:prstGeom>
          <a:noFill/>
        </p:spPr>
        <p:txBody>
          <a:bodyPr wrap="none" rtlCol="0">
            <a:spAutoFit/>
          </a:bodyPr>
          <a:lstStyle/>
          <a:p>
            <a:r>
              <a:rPr lang="ru-RU" sz="2000" i="1" dirty="0"/>
              <a:t>МОСКВА 2020</a:t>
            </a:r>
          </a:p>
        </p:txBody>
      </p:sp>
      <p:sp>
        <p:nvSpPr>
          <p:cNvPr id="7" name="TextBox 6"/>
          <p:cNvSpPr txBox="1"/>
          <p:nvPr/>
        </p:nvSpPr>
        <p:spPr>
          <a:xfrm>
            <a:off x="7874786" y="4846751"/>
            <a:ext cx="3819507" cy="1015663"/>
          </a:xfrm>
          <a:prstGeom prst="rect">
            <a:avLst/>
          </a:prstGeom>
          <a:noFill/>
        </p:spPr>
        <p:txBody>
          <a:bodyPr wrap="none" rtlCol="0">
            <a:spAutoFit/>
          </a:bodyPr>
          <a:lstStyle/>
          <a:p>
            <a:r>
              <a:rPr lang="ru-RU" sz="2000" b="1" dirty="0"/>
              <a:t>Учащегося 11 «Ф» класса: </a:t>
            </a:r>
          </a:p>
          <a:p>
            <a:pPr indent="457200"/>
            <a:r>
              <a:rPr lang="ru-RU" sz="2000" dirty="0"/>
              <a:t>Свиридова Льва Георгиевича</a:t>
            </a:r>
            <a:endParaRPr lang="ru-RU" sz="2000" b="1" dirty="0"/>
          </a:p>
          <a:p>
            <a:r>
              <a:rPr lang="ru-RU" sz="2000" dirty="0"/>
              <a:t>        </a:t>
            </a:r>
          </a:p>
        </p:txBody>
      </p:sp>
      <p:sp>
        <p:nvSpPr>
          <p:cNvPr id="8" name="TextBox 7"/>
          <p:cNvSpPr txBox="1"/>
          <p:nvPr/>
        </p:nvSpPr>
        <p:spPr>
          <a:xfrm>
            <a:off x="0" y="164588"/>
            <a:ext cx="12192000" cy="830997"/>
          </a:xfrm>
          <a:prstGeom prst="rect">
            <a:avLst/>
          </a:prstGeom>
          <a:noFill/>
        </p:spPr>
        <p:txBody>
          <a:bodyPr wrap="square" rtlCol="0">
            <a:spAutoFit/>
          </a:bodyPr>
          <a:lstStyle/>
          <a:p>
            <a:pPr algn="ctr">
              <a:spcAft>
                <a:spcPts val="0"/>
              </a:spcAft>
            </a:pPr>
            <a:r>
              <a:rPr lang="ru-RU" sz="1600" i="1" cap="all" dirty="0">
                <a:ea typeface="Times New Roman" panose="02020603050405020304" pitchFamily="18" charset="0"/>
              </a:rPr>
              <a:t>ДЕПАРТАМЕНТ ОБРАЗОВАНИЯ ГОРОДА МОСКВЫ</a:t>
            </a:r>
            <a:endParaRPr lang="ru-RU" sz="1600" i="1" dirty="0">
              <a:ea typeface="Times New Roman" panose="02020603050405020304" pitchFamily="18" charset="0"/>
            </a:endParaRPr>
          </a:p>
          <a:p>
            <a:pPr algn="ctr">
              <a:spcAft>
                <a:spcPts val="0"/>
              </a:spcAft>
            </a:pPr>
            <a:r>
              <a:rPr lang="ru-RU" sz="1600" i="1" cap="all" dirty="0">
                <a:ea typeface="Times New Roman" panose="02020603050405020304" pitchFamily="18" charset="0"/>
              </a:rPr>
              <a:t>государственное БЮДЖЕТНОЕ ОБЩЕобразовательное учреждение ГОРОДА МОСКВЫ  </a:t>
            </a:r>
          </a:p>
          <a:p>
            <a:pPr algn="ctr">
              <a:spcAft>
                <a:spcPts val="0"/>
              </a:spcAft>
            </a:pPr>
            <a:r>
              <a:rPr lang="ru-RU" sz="1600" i="1" cap="all" dirty="0">
                <a:ea typeface="Times New Roman" panose="02020603050405020304" pitchFamily="18" charset="0"/>
              </a:rPr>
              <a:t>ШКОЛА «ПОКРОВСКИЙ КВАРТАЛ»</a:t>
            </a:r>
            <a:endParaRPr lang="ru-RU" sz="1600" i="1" dirty="0">
              <a:ea typeface="Times New Roman" panose="02020603050405020304" pitchFamily="18" charset="0"/>
            </a:endParaRPr>
          </a:p>
        </p:txBody>
      </p:sp>
    </p:spTree>
    <p:extLst>
      <p:ext uri="{BB962C8B-B14F-4D97-AF65-F5344CB8AC3E}">
        <p14:creationId xmlns:p14="http://schemas.microsoft.com/office/powerpoint/2010/main" val="2546027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ЦЕЛЬ И ЗАДАЧИ</a:t>
            </a:r>
          </a:p>
        </p:txBody>
      </p:sp>
      <p:sp>
        <p:nvSpPr>
          <p:cNvPr id="2" name="TextBox 1"/>
          <p:cNvSpPr txBox="1"/>
          <p:nvPr/>
        </p:nvSpPr>
        <p:spPr>
          <a:xfrm>
            <a:off x="311287" y="1014356"/>
            <a:ext cx="11511257" cy="1384995"/>
          </a:xfrm>
          <a:prstGeom prst="rect">
            <a:avLst/>
          </a:prstGeom>
          <a:noFill/>
        </p:spPr>
        <p:txBody>
          <a:bodyPr wrap="square" rtlCol="0">
            <a:spAutoFit/>
          </a:bodyPr>
          <a:lstStyle/>
          <a:p>
            <a:r>
              <a:rPr lang="ru-RU" sz="3200" b="1" i="1" dirty="0">
                <a:solidFill>
                  <a:srgbClr val="C00000"/>
                </a:solidFill>
              </a:rPr>
              <a:t>ЦЕЛЬ</a:t>
            </a:r>
            <a:r>
              <a:rPr lang="ru-RU" sz="3200" dirty="0"/>
              <a:t>: </a:t>
            </a:r>
            <a:r>
              <a:rPr lang="ru-RU" sz="2400" dirty="0"/>
              <a:t>Создать открытый интернет сайт, который призван частично решить проблему нехватки верифицированных научных источников на биологическую тематику в интернете</a:t>
            </a:r>
            <a:r>
              <a:rPr lang="ru-RU" sz="2800" dirty="0"/>
              <a:t>. </a:t>
            </a:r>
          </a:p>
        </p:txBody>
      </p:sp>
      <p:sp>
        <p:nvSpPr>
          <p:cNvPr id="8" name="TextBox 7"/>
          <p:cNvSpPr txBox="1"/>
          <p:nvPr/>
        </p:nvSpPr>
        <p:spPr>
          <a:xfrm>
            <a:off x="311288" y="2268116"/>
            <a:ext cx="11511257" cy="4647426"/>
          </a:xfrm>
          <a:prstGeom prst="rect">
            <a:avLst/>
          </a:prstGeom>
          <a:noFill/>
        </p:spPr>
        <p:txBody>
          <a:bodyPr wrap="square" rtlCol="0">
            <a:spAutoFit/>
          </a:bodyPr>
          <a:lstStyle/>
          <a:p>
            <a:r>
              <a:rPr lang="ru-RU" sz="3200" b="1" i="1" dirty="0">
                <a:solidFill>
                  <a:srgbClr val="C00000"/>
                </a:solidFill>
              </a:rPr>
              <a:t>ЗАДАЧИ</a:t>
            </a:r>
            <a:r>
              <a:rPr lang="ru-RU" sz="2400" dirty="0"/>
              <a:t>: </a:t>
            </a:r>
          </a:p>
          <a:p>
            <a:pPr marL="514350" lvl="0" indent="-514350">
              <a:buFont typeface="+mj-lt"/>
              <a:buAutoNum type="arabicParenR"/>
            </a:pPr>
            <a:r>
              <a:rPr lang="ru-RU" sz="2400" dirty="0"/>
              <a:t>Узнать основные способы создания сайтов и выбрать подходящий.</a:t>
            </a:r>
          </a:p>
          <a:p>
            <a:pPr marL="514350" lvl="0" indent="-514350">
              <a:buFont typeface="+mj-lt"/>
              <a:buAutoNum type="arabicParenR"/>
            </a:pPr>
            <a:r>
              <a:rPr lang="ru-RU" sz="2400" dirty="0"/>
              <a:t>Разработать шаблон сайта на бумаге.</a:t>
            </a:r>
          </a:p>
          <a:p>
            <a:pPr marL="514350" indent="-514350">
              <a:buFont typeface="+mj-lt"/>
              <a:buAutoNum type="arabicParenR"/>
            </a:pPr>
            <a:r>
              <a:rPr lang="ru-RU" sz="2400" dirty="0"/>
              <a:t>Получить необходимые знания о </a:t>
            </a:r>
            <a:r>
              <a:rPr lang="en-US" sz="2400" dirty="0"/>
              <a:t>frontend </a:t>
            </a:r>
            <a:r>
              <a:rPr lang="ru-RU" sz="2400" dirty="0"/>
              <a:t>разработке для воплощения шаблона в виде веб страницы.</a:t>
            </a:r>
          </a:p>
          <a:p>
            <a:pPr marL="514350" indent="-514350">
              <a:buFont typeface="+mj-lt"/>
              <a:buAutoNum type="arabicParenR"/>
            </a:pPr>
            <a:r>
              <a:rPr lang="ru-RU" sz="2400" dirty="0"/>
              <a:t>Создать веб-страницу по разработанному шаблону.</a:t>
            </a:r>
          </a:p>
          <a:p>
            <a:pPr marL="514350" indent="-514350">
              <a:buFont typeface="+mj-lt"/>
              <a:buAutoNum type="arabicParenR"/>
            </a:pPr>
            <a:r>
              <a:rPr lang="ru-RU" sz="2400" dirty="0"/>
              <a:t>Получить необходимые знания о веб-фреймворке </a:t>
            </a:r>
            <a:r>
              <a:rPr lang="en-US" sz="2400" dirty="0"/>
              <a:t>Django, </a:t>
            </a:r>
            <a:r>
              <a:rPr lang="ru-RU" sz="2400" dirty="0"/>
              <a:t>для создания админ-панели сайта.</a:t>
            </a:r>
          </a:p>
          <a:p>
            <a:pPr marL="514350" indent="-514350">
              <a:buFont typeface="+mj-lt"/>
              <a:buAutoNum type="arabicParenR"/>
            </a:pPr>
            <a:r>
              <a:rPr lang="ru-RU" sz="2400" dirty="0"/>
              <a:t>Соединить </a:t>
            </a:r>
            <a:r>
              <a:rPr lang="en-US" sz="2400" dirty="0"/>
              <a:t>frontend</a:t>
            </a:r>
            <a:r>
              <a:rPr lang="ru-RU" sz="2400" dirty="0"/>
              <a:t> и </a:t>
            </a:r>
            <a:r>
              <a:rPr lang="en-US" sz="2400" dirty="0"/>
              <a:t>backend</a:t>
            </a:r>
            <a:r>
              <a:rPr lang="ru-RU" sz="2400" dirty="0"/>
              <a:t> части сайта в единое веб-приложение.</a:t>
            </a:r>
          </a:p>
          <a:p>
            <a:pPr marL="514350" indent="-514350">
              <a:buFont typeface="+mj-lt"/>
              <a:buAutoNum type="arabicParenR"/>
            </a:pPr>
            <a:r>
              <a:rPr lang="ru-RU" sz="2400" dirty="0"/>
              <a:t>Развернуть веб приложение на хостинге.</a:t>
            </a:r>
          </a:p>
          <a:p>
            <a:endParaRPr lang="ru-RU" sz="2400" dirty="0"/>
          </a:p>
          <a:p>
            <a:endParaRPr lang="ru-RU" sz="2400" dirty="0"/>
          </a:p>
        </p:txBody>
      </p:sp>
    </p:spTree>
    <p:extLst>
      <p:ext uri="{BB962C8B-B14F-4D97-AF65-F5344CB8AC3E}">
        <p14:creationId xmlns:p14="http://schemas.microsoft.com/office/powerpoint/2010/main" val="137087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МЕТОДЫ</a:t>
            </a:r>
          </a:p>
        </p:txBody>
      </p:sp>
      <p:sp>
        <p:nvSpPr>
          <p:cNvPr id="2" name="TextBox 1"/>
          <p:cNvSpPr txBox="1"/>
          <p:nvPr/>
        </p:nvSpPr>
        <p:spPr>
          <a:xfrm>
            <a:off x="138544" y="892613"/>
            <a:ext cx="11920934" cy="5663089"/>
          </a:xfrm>
          <a:prstGeom prst="rect">
            <a:avLst/>
          </a:prstGeom>
          <a:noFill/>
        </p:spPr>
        <p:txBody>
          <a:bodyPr wrap="square" rtlCol="0">
            <a:spAutoFit/>
          </a:bodyPr>
          <a:lstStyle/>
          <a:p>
            <a:r>
              <a:rPr lang="ru-RU" sz="2300" b="1" dirty="0"/>
              <a:t>Задача №1 </a:t>
            </a:r>
            <a:r>
              <a:rPr lang="ru-RU" sz="2400" dirty="0"/>
              <a:t>выполнялась методом анализа источников, описывающих способы создания сайтов, для выявления наиболее подходящего проекту способа</a:t>
            </a:r>
            <a:r>
              <a:rPr lang="en-US" sz="2400" dirty="0"/>
              <a:t>.</a:t>
            </a:r>
            <a:endParaRPr lang="ru-RU" sz="2400" dirty="0"/>
          </a:p>
          <a:p>
            <a:r>
              <a:rPr lang="ru-RU" sz="2300" b="1" dirty="0"/>
              <a:t>Задача №2 </a:t>
            </a:r>
            <a:r>
              <a:rPr lang="ru-RU" sz="2400" dirty="0"/>
              <a:t>выполнялась методом изучения внешнего вида интерфейсов схожих интернет ресурсов, для последующего моделирования своего сайта</a:t>
            </a:r>
            <a:r>
              <a:rPr lang="en-US" sz="2400" dirty="0"/>
              <a:t>.</a:t>
            </a:r>
          </a:p>
          <a:p>
            <a:r>
              <a:rPr lang="ru-RU" sz="2300" b="1" dirty="0"/>
              <a:t>Задача №3 </a:t>
            </a:r>
            <a:r>
              <a:rPr lang="ru-RU" sz="2300" dirty="0"/>
              <a:t>выполнялась методом эксперимента с готовыми шаблонами в интерактивной обучающей среде </a:t>
            </a:r>
            <a:r>
              <a:rPr lang="ru-RU" sz="2300" dirty="0" err="1"/>
              <a:t>Яндекс.Практикум</a:t>
            </a:r>
            <a:r>
              <a:rPr lang="ru-RU" sz="2300" dirty="0"/>
              <a:t>, курса «Веб-разработчик».</a:t>
            </a:r>
          </a:p>
          <a:p>
            <a:r>
              <a:rPr lang="ru-RU" sz="2300" b="1" dirty="0"/>
              <a:t>Задача №4 </a:t>
            </a:r>
            <a:r>
              <a:rPr lang="ru-RU" sz="2300" dirty="0"/>
              <a:t>выполнялась методом тестирования в браузере написанного мной кода</a:t>
            </a:r>
            <a:r>
              <a:rPr lang="en-US" sz="2300" dirty="0"/>
              <a:t>.</a:t>
            </a:r>
          </a:p>
          <a:p>
            <a:r>
              <a:rPr lang="ru-RU" sz="2300" b="1" dirty="0"/>
              <a:t>Задача №5</a:t>
            </a:r>
            <a:r>
              <a:rPr lang="ru-RU" sz="2300" dirty="0"/>
              <a:t> выполнялась методом изучения информации о веб-фреймворке </a:t>
            </a:r>
            <a:r>
              <a:rPr lang="en-US" sz="2300" dirty="0"/>
              <a:t>Django</a:t>
            </a:r>
            <a:r>
              <a:rPr lang="ru-RU" sz="2300" dirty="0"/>
              <a:t> и последующего ее обобщения</a:t>
            </a:r>
            <a:r>
              <a:rPr lang="en-US" sz="2300" dirty="0"/>
              <a:t>.</a:t>
            </a:r>
            <a:endParaRPr lang="ru-RU" sz="2300" dirty="0"/>
          </a:p>
          <a:p>
            <a:r>
              <a:rPr lang="ru-RU" sz="2300" b="1" dirty="0"/>
              <a:t>Задача №6 </a:t>
            </a:r>
            <a:r>
              <a:rPr lang="ru-RU" sz="2300" dirty="0"/>
              <a:t>выполнялась методом эксперимента для соединения шаблона верстки с серверной частью и последующего тестирования полученных результатов.</a:t>
            </a:r>
          </a:p>
          <a:p>
            <a:r>
              <a:rPr lang="ru-RU" sz="2300" b="1" dirty="0"/>
              <a:t>Задача №7 </a:t>
            </a:r>
            <a:r>
              <a:rPr lang="ru-RU" sz="2300" dirty="0"/>
              <a:t>выполнялась методом изучения и обобщения информации о семействе ОС </a:t>
            </a:r>
            <a:r>
              <a:rPr lang="en-US" sz="2300" dirty="0"/>
              <a:t>Linux</a:t>
            </a:r>
            <a:r>
              <a:rPr lang="ru-RU" sz="2300" dirty="0"/>
              <a:t>,</a:t>
            </a:r>
            <a:r>
              <a:rPr lang="en-US" sz="2300" dirty="0"/>
              <a:t> </a:t>
            </a:r>
            <a:r>
              <a:rPr lang="ru-RU" sz="2300" dirty="0"/>
              <a:t>эксперимента с конфигурацией удаленного сервера и последующего тестирования работоспособности сайта.</a:t>
            </a:r>
            <a:endParaRPr lang="ru-RU" sz="2300" b="1" dirty="0"/>
          </a:p>
          <a:p>
            <a:endParaRPr lang="ru-RU" sz="3600" dirty="0"/>
          </a:p>
        </p:txBody>
      </p:sp>
    </p:spTree>
    <p:extLst>
      <p:ext uri="{BB962C8B-B14F-4D97-AF65-F5344CB8AC3E}">
        <p14:creationId xmlns:p14="http://schemas.microsoft.com/office/powerpoint/2010/main" val="65469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ИНФОРМАЦИОННАЯ ПРОРАБОТАННОСТЬ</a:t>
            </a:r>
          </a:p>
        </p:txBody>
      </p:sp>
      <p:pic>
        <p:nvPicPr>
          <p:cNvPr id="3" name="Рисунок 2">
            <a:extLst>
              <a:ext uri="{FF2B5EF4-FFF2-40B4-BE49-F238E27FC236}">
                <a16:creationId xmlns:a16="http://schemas.microsoft.com/office/drawing/2014/main" id="{A28B2175-3EFB-4B7A-B263-2F9B3BE16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9441"/>
            <a:ext cx="4304145" cy="6108540"/>
          </a:xfrm>
          <a:prstGeom prst="rect">
            <a:avLst/>
          </a:prstGeom>
        </p:spPr>
      </p:pic>
      <p:sp>
        <p:nvSpPr>
          <p:cNvPr id="8" name="TextBox 7">
            <a:extLst>
              <a:ext uri="{FF2B5EF4-FFF2-40B4-BE49-F238E27FC236}">
                <a16:creationId xmlns:a16="http://schemas.microsoft.com/office/drawing/2014/main" id="{8FE18801-F4D9-47A6-A675-9DC4E9C915D5}"/>
              </a:ext>
            </a:extLst>
          </p:cNvPr>
          <p:cNvSpPr txBox="1"/>
          <p:nvPr/>
        </p:nvSpPr>
        <p:spPr>
          <a:xfrm>
            <a:off x="4008582" y="769439"/>
            <a:ext cx="8183418" cy="5509200"/>
          </a:xfrm>
          <a:prstGeom prst="rect">
            <a:avLst/>
          </a:prstGeom>
          <a:noFill/>
        </p:spPr>
        <p:txBody>
          <a:bodyPr wrap="square" rtlCol="0">
            <a:spAutoFit/>
          </a:bodyPr>
          <a:lstStyle/>
          <a:p>
            <a:pPr marL="285750" indent="-285750">
              <a:buFont typeface="Arial" panose="020B0604020202020204" pitchFamily="34" charset="0"/>
              <a:buChar char="•"/>
            </a:pPr>
            <a:r>
              <a:rPr lang="ru-RU" sz="4000" dirty="0"/>
              <a:t>Анализ </a:t>
            </a:r>
            <a:r>
              <a:rPr lang="ru-RU" sz="4000" dirty="0" err="1"/>
              <a:t>web</a:t>
            </a:r>
            <a:r>
              <a:rPr lang="ru-RU" sz="4000" dirty="0"/>
              <a:t>-технологий для создания онлайн-площадки.</a:t>
            </a:r>
          </a:p>
          <a:p>
            <a:pPr marL="285750" indent="-285750">
              <a:buFont typeface="Arial" panose="020B0604020202020204" pitchFamily="34" charset="0"/>
              <a:buChar char="•"/>
            </a:pPr>
            <a:r>
              <a:rPr lang="ru-RU" sz="4000" dirty="0"/>
              <a:t>Получены знания о способах создания сайта, минусах и плюсах каждого из способов, какой способ подходит в моем случае.</a:t>
            </a:r>
          </a:p>
          <a:p>
            <a:pPr marL="285750" indent="-285750">
              <a:buFont typeface="Arial" panose="020B0604020202020204" pitchFamily="34" charset="0"/>
              <a:buChar char="•"/>
            </a:pPr>
            <a:r>
              <a:rPr lang="ru-RU" sz="4000" dirty="0"/>
              <a:t>Помог выбрать способ создания сайта.</a:t>
            </a:r>
          </a:p>
          <a:p>
            <a:pPr marL="285750" indent="-285750">
              <a:buFont typeface="Arial" panose="020B0604020202020204" pitchFamily="34" charset="0"/>
              <a:buChar char="•"/>
            </a:pPr>
            <a:endParaRPr lang="ru-RU" sz="3200" dirty="0"/>
          </a:p>
        </p:txBody>
      </p:sp>
    </p:spTree>
    <p:extLst>
      <p:ext uri="{BB962C8B-B14F-4D97-AF65-F5344CB8AC3E}">
        <p14:creationId xmlns:p14="http://schemas.microsoft.com/office/powerpoint/2010/main" val="859097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F98139C0-DA60-48CF-9524-594DA26AFADA}"/>
              </a:ext>
            </a:extLst>
          </p:cNvPr>
          <p:cNvSpPr/>
          <p:nvPr/>
        </p:nvSpPr>
        <p:spPr>
          <a:xfrm>
            <a:off x="-1" y="769441"/>
            <a:ext cx="6095999" cy="608855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ИНФОРМАЦИОННАЯ ПРОРАБОТАННОСТЬ</a:t>
            </a:r>
          </a:p>
        </p:txBody>
      </p:sp>
      <p:pic>
        <p:nvPicPr>
          <p:cNvPr id="4" name="Рисунок 3">
            <a:extLst>
              <a:ext uri="{FF2B5EF4-FFF2-40B4-BE49-F238E27FC236}">
                <a16:creationId xmlns:a16="http://schemas.microsoft.com/office/drawing/2014/main" id="{A8F961DD-4C1C-4619-8994-B63F6EF72F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57295"/>
            <a:ext cx="6096000" cy="3334537"/>
          </a:xfrm>
          <a:prstGeom prst="rect">
            <a:avLst/>
          </a:prstGeom>
        </p:spPr>
      </p:pic>
      <p:sp>
        <p:nvSpPr>
          <p:cNvPr id="8" name="TextBox 7">
            <a:extLst>
              <a:ext uri="{FF2B5EF4-FFF2-40B4-BE49-F238E27FC236}">
                <a16:creationId xmlns:a16="http://schemas.microsoft.com/office/drawing/2014/main" id="{B9512238-958B-4175-952D-57EA716E71C3}"/>
              </a:ext>
            </a:extLst>
          </p:cNvPr>
          <p:cNvSpPr txBox="1"/>
          <p:nvPr/>
        </p:nvSpPr>
        <p:spPr>
          <a:xfrm>
            <a:off x="6095998" y="769441"/>
            <a:ext cx="6095999" cy="6001643"/>
          </a:xfrm>
          <a:prstGeom prst="rect">
            <a:avLst/>
          </a:prstGeom>
          <a:noFill/>
        </p:spPr>
        <p:txBody>
          <a:bodyPr wrap="square" rtlCol="0">
            <a:spAutoFit/>
          </a:bodyPr>
          <a:lstStyle/>
          <a:p>
            <a:pPr marL="285750" indent="-285750">
              <a:buFont typeface="Arial" panose="020B0604020202020204" pitchFamily="34" charset="0"/>
              <a:buChar char="•"/>
            </a:pPr>
            <a:r>
              <a:rPr lang="ru-RU" sz="3200" dirty="0"/>
              <a:t>Курс «Веб-разработчик»</a:t>
            </a:r>
          </a:p>
          <a:p>
            <a:pPr marL="285750" indent="-285750">
              <a:buFont typeface="Arial" panose="020B0604020202020204" pitchFamily="34" charset="0"/>
              <a:buChar char="•"/>
            </a:pPr>
            <a:r>
              <a:rPr lang="ru-RU" sz="3200" dirty="0"/>
              <a:t>Получены знания о структуре </a:t>
            </a:r>
            <a:r>
              <a:rPr lang="en-US" sz="3200" dirty="0"/>
              <a:t>HTML </a:t>
            </a:r>
            <a:r>
              <a:rPr lang="ru-RU" sz="3200" dirty="0"/>
              <a:t>документа, основных тегах </a:t>
            </a:r>
            <a:r>
              <a:rPr lang="en-US" sz="3200" dirty="0"/>
              <a:t>HTML</a:t>
            </a:r>
            <a:r>
              <a:rPr lang="ru-RU" sz="3200" dirty="0"/>
              <a:t>, основных свойствах </a:t>
            </a:r>
            <a:r>
              <a:rPr lang="en-US" sz="3200" dirty="0"/>
              <a:t>CSS,</a:t>
            </a:r>
            <a:r>
              <a:rPr lang="ru-RU" sz="3200" dirty="0"/>
              <a:t> понятии класса </a:t>
            </a:r>
            <a:r>
              <a:rPr lang="en-US" sz="3200" dirty="0"/>
              <a:t>CSS, </a:t>
            </a:r>
            <a:r>
              <a:rPr lang="ru-RU" sz="3200" dirty="0"/>
              <a:t>трех способах подключения стилей на странице, а также подключении дополнительных файлов на страницу.</a:t>
            </a:r>
            <a:endParaRPr lang="en-US" sz="3200" dirty="0"/>
          </a:p>
          <a:p>
            <a:pPr marL="285750" indent="-285750">
              <a:buFont typeface="Arial" panose="020B0604020202020204" pitchFamily="34" charset="0"/>
              <a:buChar char="•"/>
            </a:pPr>
            <a:r>
              <a:rPr lang="ru-RU" sz="3200" dirty="0"/>
              <a:t>Помог мне создать веб-страницу по разработанному шаблону.</a:t>
            </a:r>
          </a:p>
        </p:txBody>
      </p:sp>
    </p:spTree>
    <p:extLst>
      <p:ext uri="{BB962C8B-B14F-4D97-AF65-F5344CB8AC3E}">
        <p14:creationId xmlns:p14="http://schemas.microsoft.com/office/powerpoint/2010/main" val="238549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ИНФОРМАЦИОННАЯ ПРОРАБОТАННОСТЬ</a:t>
            </a:r>
          </a:p>
        </p:txBody>
      </p:sp>
      <p:sp>
        <p:nvSpPr>
          <p:cNvPr id="7" name="TextBox 6">
            <a:extLst>
              <a:ext uri="{FF2B5EF4-FFF2-40B4-BE49-F238E27FC236}">
                <a16:creationId xmlns:a16="http://schemas.microsoft.com/office/drawing/2014/main" id="{3E383F1B-6BC2-430A-B83F-1094707859B6}"/>
              </a:ext>
            </a:extLst>
          </p:cNvPr>
          <p:cNvSpPr txBox="1"/>
          <p:nvPr/>
        </p:nvSpPr>
        <p:spPr>
          <a:xfrm>
            <a:off x="4488872" y="769439"/>
            <a:ext cx="7703128" cy="4647426"/>
          </a:xfrm>
          <a:prstGeom prst="rect">
            <a:avLst/>
          </a:prstGeom>
          <a:noFill/>
        </p:spPr>
        <p:txBody>
          <a:bodyPr wrap="square" rtlCol="0">
            <a:spAutoFit/>
          </a:bodyPr>
          <a:lstStyle/>
          <a:p>
            <a:pPr marL="285750" indent="-285750">
              <a:buFont typeface="Arial" panose="020B0604020202020204" pitchFamily="34" charset="0"/>
              <a:buChar char="•"/>
            </a:pPr>
            <a:r>
              <a:rPr lang="en-US" sz="4400" dirty="0"/>
              <a:t>MDN Web Docs</a:t>
            </a:r>
            <a:endParaRPr lang="ru-RU" sz="4400" dirty="0"/>
          </a:p>
          <a:p>
            <a:pPr marL="285750" indent="-285750">
              <a:buFont typeface="Arial" panose="020B0604020202020204" pitchFamily="34" charset="0"/>
              <a:buChar char="•"/>
            </a:pPr>
            <a:r>
              <a:rPr lang="ru-RU" sz="4400" dirty="0"/>
              <a:t>Получены знания об адаптивной верстке. Получена документация </a:t>
            </a:r>
            <a:r>
              <a:rPr lang="en-US" sz="4400" dirty="0"/>
              <a:t>Django </a:t>
            </a:r>
            <a:r>
              <a:rPr lang="ru-RU" sz="4400" dirty="0"/>
              <a:t>на русском языке.</a:t>
            </a:r>
          </a:p>
          <a:p>
            <a:pPr marL="285750" indent="-285750">
              <a:buFont typeface="Arial" panose="020B0604020202020204" pitchFamily="34" charset="0"/>
              <a:buChar char="•"/>
            </a:pPr>
            <a:r>
              <a:rPr lang="ru-RU" sz="4400" dirty="0"/>
              <a:t>Помог создать админ-панель</a:t>
            </a:r>
            <a:r>
              <a:rPr lang="en-US" sz="4400" dirty="0"/>
              <a:t>.</a:t>
            </a:r>
            <a:endParaRPr lang="ru-RU" sz="4400" dirty="0"/>
          </a:p>
          <a:p>
            <a:pPr marL="285750" indent="-285750">
              <a:buFont typeface="Arial" panose="020B0604020202020204" pitchFamily="34" charset="0"/>
              <a:buChar char="•"/>
            </a:pPr>
            <a:endParaRPr lang="ru-RU" sz="3200" dirty="0"/>
          </a:p>
        </p:txBody>
      </p:sp>
      <p:pic>
        <p:nvPicPr>
          <p:cNvPr id="9" name="Рисунок 8">
            <a:extLst>
              <a:ext uri="{FF2B5EF4-FFF2-40B4-BE49-F238E27FC236}">
                <a16:creationId xmlns:a16="http://schemas.microsoft.com/office/drawing/2014/main" id="{548C7D29-12FB-4201-B6D4-822D51FDE0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769440"/>
            <a:ext cx="4488873" cy="6084477"/>
          </a:xfrm>
          <a:prstGeom prst="rect">
            <a:avLst/>
          </a:prstGeom>
        </p:spPr>
      </p:pic>
    </p:spTree>
    <p:extLst>
      <p:ext uri="{BB962C8B-B14F-4D97-AF65-F5344CB8AC3E}">
        <p14:creationId xmlns:p14="http://schemas.microsoft.com/office/powerpoint/2010/main" val="3263893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ЗАКЛЮЧЕНИЕ ПО ТЕОРЕТИЧЕСКОЙ ЧАСТИ</a:t>
            </a:r>
          </a:p>
        </p:txBody>
      </p:sp>
      <p:sp>
        <p:nvSpPr>
          <p:cNvPr id="6" name="TextBox 5"/>
          <p:cNvSpPr txBox="1"/>
          <p:nvPr/>
        </p:nvSpPr>
        <p:spPr>
          <a:xfrm>
            <a:off x="0" y="769441"/>
            <a:ext cx="12192000" cy="5509200"/>
          </a:xfrm>
          <a:prstGeom prst="rect">
            <a:avLst/>
          </a:prstGeom>
          <a:noFill/>
        </p:spPr>
        <p:txBody>
          <a:bodyPr wrap="square" rtlCol="0">
            <a:spAutoFit/>
          </a:bodyPr>
          <a:lstStyle/>
          <a:p>
            <a:pPr marL="285750" indent="-285750">
              <a:buFont typeface="Arial" panose="020B0604020202020204" pitchFamily="34" charset="0"/>
              <a:buChar char="•"/>
            </a:pPr>
            <a:r>
              <a:rPr lang="ru-RU" sz="4400" dirty="0">
                <a:solidFill>
                  <a:schemeClr val="tx1">
                    <a:lumMod val="95000"/>
                    <a:lumOff val="5000"/>
                  </a:schemeClr>
                </a:solidFill>
                <a:latin typeface="Times New Roman" panose="02020603050405020304" pitchFamily="18" charset="0"/>
                <a:cs typeface="Times New Roman" panose="02020603050405020304" pitchFamily="18" charset="0"/>
              </a:rPr>
              <a:t>Получены знания о трех основных способах создания сайта. </a:t>
            </a:r>
          </a:p>
          <a:p>
            <a:pPr marL="285750" indent="-285750">
              <a:buFont typeface="Arial" panose="020B0604020202020204" pitchFamily="34" charset="0"/>
              <a:buChar char="•"/>
            </a:pPr>
            <a:r>
              <a:rPr lang="ru-RU" sz="4400" dirty="0">
                <a:solidFill>
                  <a:schemeClr val="tx1">
                    <a:lumMod val="95000"/>
                    <a:lumOff val="5000"/>
                  </a:schemeClr>
                </a:solidFill>
                <a:latin typeface="Times New Roman" panose="02020603050405020304" pitchFamily="18" charset="0"/>
                <a:cs typeface="Times New Roman" panose="02020603050405020304" pitchFamily="18" charset="0"/>
              </a:rPr>
              <a:t>При помощи источников был выбран подходящий способ создания сайта.</a:t>
            </a:r>
          </a:p>
          <a:p>
            <a:pPr marL="285750" indent="-285750">
              <a:buFont typeface="Arial" panose="020B0604020202020204" pitchFamily="34" charset="0"/>
              <a:buChar char="•"/>
            </a:pPr>
            <a:r>
              <a:rPr lang="ru-RU" sz="4400" dirty="0">
                <a:solidFill>
                  <a:schemeClr val="tx1">
                    <a:lumMod val="95000"/>
                    <a:lumOff val="5000"/>
                  </a:schemeClr>
                </a:solidFill>
                <a:latin typeface="Times New Roman" panose="02020603050405020304" pitchFamily="18" charset="0"/>
                <a:cs typeface="Times New Roman" panose="02020603050405020304" pitchFamily="18" charset="0"/>
              </a:rPr>
              <a:t>С помощью экспериментирования на веб-ресурсах, описанных ранее, получены необходимые знания о </a:t>
            </a:r>
            <a:r>
              <a:rPr lang="en-US" sz="4400" dirty="0">
                <a:solidFill>
                  <a:schemeClr val="tx1">
                    <a:lumMod val="95000"/>
                    <a:lumOff val="5000"/>
                  </a:schemeClr>
                </a:solidFill>
                <a:latin typeface="Times New Roman" panose="02020603050405020304" pitchFamily="18" charset="0"/>
                <a:cs typeface="Times New Roman" panose="02020603050405020304" pitchFamily="18" charset="0"/>
              </a:rPr>
              <a:t>frontend </a:t>
            </a:r>
            <a:r>
              <a:rPr lang="ru-RU" sz="4400" dirty="0">
                <a:solidFill>
                  <a:schemeClr val="tx1">
                    <a:lumMod val="95000"/>
                    <a:lumOff val="5000"/>
                  </a:schemeClr>
                </a:solidFill>
                <a:latin typeface="Times New Roman" panose="02020603050405020304" pitchFamily="18" charset="0"/>
                <a:cs typeface="Times New Roman" panose="02020603050405020304" pitchFamily="18" charset="0"/>
              </a:rPr>
              <a:t>разработке.</a:t>
            </a:r>
          </a:p>
          <a:p>
            <a:pPr marL="285750" indent="-285750">
              <a:buFont typeface="Arial" panose="020B0604020202020204" pitchFamily="34" charset="0"/>
              <a:buChar char="•"/>
            </a:pPr>
            <a:endParaRPr lang="ru-RU" sz="4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605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12192000" cy="769441"/>
          </a:xfrm>
          <a:prstGeom prst="rect">
            <a:avLst/>
          </a:prstGeom>
          <a:solidFill>
            <a:schemeClr val="accent6">
              <a:lumMod val="40000"/>
              <a:lumOff val="60000"/>
            </a:schemeClr>
          </a:solidFill>
        </p:spPr>
        <p:txBody>
          <a:bodyPr wrap="square">
            <a:spAutoFit/>
          </a:bodyPr>
          <a:lstStyle/>
          <a:p>
            <a:pPr algn="ctr"/>
            <a:r>
              <a:rPr lang="ru-RU" sz="4400" b="1" i="1" dirty="0"/>
              <a:t>ПРЕДСТАВЛЕНИЕ ПРОДУКТА</a:t>
            </a:r>
          </a:p>
        </p:txBody>
      </p:sp>
      <p:pic>
        <p:nvPicPr>
          <p:cNvPr id="4" name="Рисунок 3">
            <a:extLst>
              <a:ext uri="{FF2B5EF4-FFF2-40B4-BE49-F238E27FC236}">
                <a16:creationId xmlns:a16="http://schemas.microsoft.com/office/drawing/2014/main" id="{0B744D7C-9E9E-4887-BA71-AC8B1C84E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9441"/>
            <a:ext cx="4182979" cy="6088559"/>
          </a:xfrm>
          <a:prstGeom prst="rect">
            <a:avLst/>
          </a:prstGeom>
        </p:spPr>
      </p:pic>
      <p:sp>
        <p:nvSpPr>
          <p:cNvPr id="6" name="Прямоугольник 5">
            <a:extLst>
              <a:ext uri="{FF2B5EF4-FFF2-40B4-BE49-F238E27FC236}">
                <a16:creationId xmlns:a16="http://schemas.microsoft.com/office/drawing/2014/main" id="{F6C88773-EBFC-4349-88AF-06FCBECA6666}"/>
              </a:ext>
            </a:extLst>
          </p:cNvPr>
          <p:cNvSpPr/>
          <p:nvPr/>
        </p:nvSpPr>
        <p:spPr>
          <a:xfrm>
            <a:off x="7217671" y="1209963"/>
            <a:ext cx="2992582" cy="9501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ru-RU" sz="2800" dirty="0"/>
              <a:t>Главная страница сайта</a:t>
            </a:r>
          </a:p>
        </p:txBody>
      </p:sp>
      <p:cxnSp>
        <p:nvCxnSpPr>
          <p:cNvPr id="8" name="Прямая со стрелкой 7">
            <a:extLst>
              <a:ext uri="{FF2B5EF4-FFF2-40B4-BE49-F238E27FC236}">
                <a16:creationId xmlns:a16="http://schemas.microsoft.com/office/drawing/2014/main" id="{77BC1047-A612-4A50-85F8-C47BFA00F9E6}"/>
              </a:ext>
            </a:extLst>
          </p:cNvPr>
          <p:cNvCxnSpPr>
            <a:cxnSpLocks/>
            <a:stCxn id="4" idx="3"/>
            <a:endCxn id="6" idx="1"/>
          </p:cNvCxnSpPr>
          <p:nvPr/>
        </p:nvCxnSpPr>
        <p:spPr>
          <a:xfrm flipV="1">
            <a:off x="4182979" y="1685034"/>
            <a:ext cx="3034692" cy="21286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Прямоугольник 8">
            <a:extLst>
              <a:ext uri="{FF2B5EF4-FFF2-40B4-BE49-F238E27FC236}">
                <a16:creationId xmlns:a16="http://schemas.microsoft.com/office/drawing/2014/main" id="{2B1EBE1B-CA57-4546-94C4-1CBE362CCBA8}"/>
              </a:ext>
            </a:extLst>
          </p:cNvPr>
          <p:cNvSpPr/>
          <p:nvPr/>
        </p:nvSpPr>
        <p:spPr>
          <a:xfrm>
            <a:off x="7038220" y="3160125"/>
            <a:ext cx="3172033" cy="8597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ru-RU" sz="2800" dirty="0"/>
              <a:t>Минималистичный интерфейс</a:t>
            </a:r>
          </a:p>
        </p:txBody>
      </p:sp>
      <p:sp>
        <p:nvSpPr>
          <p:cNvPr id="10" name="Прямоугольник 9">
            <a:extLst>
              <a:ext uri="{FF2B5EF4-FFF2-40B4-BE49-F238E27FC236}">
                <a16:creationId xmlns:a16="http://schemas.microsoft.com/office/drawing/2014/main" id="{C72D4904-E451-425E-8A92-4A893EF4B511}"/>
              </a:ext>
            </a:extLst>
          </p:cNvPr>
          <p:cNvSpPr/>
          <p:nvPr/>
        </p:nvSpPr>
        <p:spPr>
          <a:xfrm>
            <a:off x="6362359" y="4977547"/>
            <a:ext cx="3847894" cy="12561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ru-RU" sz="2400" dirty="0"/>
              <a:t>Полезность очевидна: ресурс с авторитетными источниками</a:t>
            </a:r>
          </a:p>
        </p:txBody>
      </p:sp>
    </p:spTree>
    <p:extLst>
      <p:ext uri="{BB962C8B-B14F-4D97-AF65-F5344CB8AC3E}">
        <p14:creationId xmlns:p14="http://schemas.microsoft.com/office/powerpoint/2010/main" val="2025409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hlinkClick r:id="rId3"/>
            <a:extLst>
              <a:ext uri="{FF2B5EF4-FFF2-40B4-BE49-F238E27FC236}">
                <a16:creationId xmlns:a16="http://schemas.microsoft.com/office/drawing/2014/main" id="{C53C013F-8292-40CF-A432-6468F52842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6901" y="0"/>
            <a:ext cx="15365802" cy="6858000"/>
          </a:xfrm>
          <a:prstGeom prst="rect">
            <a:avLst/>
          </a:prstGeom>
        </p:spPr>
      </p:pic>
    </p:spTree>
    <p:extLst>
      <p:ext uri="{BB962C8B-B14F-4D97-AF65-F5344CB8AC3E}">
        <p14:creationId xmlns:p14="http://schemas.microsoft.com/office/powerpoint/2010/main" val="198589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8547" y="172197"/>
            <a:ext cx="11832657" cy="769441"/>
          </a:xfrm>
          <a:prstGeom prst="rect">
            <a:avLst/>
          </a:prstGeom>
          <a:solidFill>
            <a:schemeClr val="accent6">
              <a:lumMod val="40000"/>
              <a:lumOff val="60000"/>
            </a:schemeClr>
          </a:solidFill>
        </p:spPr>
        <p:txBody>
          <a:bodyPr wrap="square">
            <a:spAutoFit/>
          </a:bodyPr>
          <a:lstStyle/>
          <a:p>
            <a:pPr algn="ctr"/>
            <a:r>
              <a:rPr lang="ru-RU" sz="4400" b="1" i="1" dirty="0"/>
              <a:t>ЗАКЛЮЧЕНИЕ ПО ПРОЕКТУ</a:t>
            </a:r>
          </a:p>
        </p:txBody>
      </p:sp>
      <p:sp>
        <p:nvSpPr>
          <p:cNvPr id="5" name="TextBox 4">
            <a:extLst>
              <a:ext uri="{FF2B5EF4-FFF2-40B4-BE49-F238E27FC236}">
                <a16:creationId xmlns:a16="http://schemas.microsoft.com/office/drawing/2014/main" id="{AF5060F8-9487-4059-AE16-A9D7A86CC1B7}"/>
              </a:ext>
            </a:extLst>
          </p:cNvPr>
          <p:cNvSpPr txBox="1"/>
          <p:nvPr/>
        </p:nvSpPr>
        <p:spPr>
          <a:xfrm>
            <a:off x="0" y="1212784"/>
            <a:ext cx="12192000" cy="3170099"/>
          </a:xfrm>
          <a:prstGeom prst="rect">
            <a:avLst/>
          </a:prstGeom>
          <a:noFill/>
        </p:spPr>
        <p:txBody>
          <a:bodyPr wrap="square" rtlCol="0">
            <a:spAutoFit/>
          </a:bodyPr>
          <a:lstStyle/>
          <a:p>
            <a:pPr marL="285750" indent="-285750">
              <a:buFont typeface="Arial" panose="020B0604020202020204" pitchFamily="34" charset="0"/>
              <a:buChar char="•"/>
            </a:pPr>
            <a:r>
              <a:rPr lang="ru-RU" sz="2800" dirty="0"/>
              <a:t>Достигнута поставленная цель</a:t>
            </a:r>
            <a:r>
              <a:rPr lang="en-US" sz="2800" dirty="0"/>
              <a:t> - </a:t>
            </a:r>
            <a:r>
              <a:rPr lang="ru-RU" sz="2800" dirty="0"/>
              <a:t>Создать открытый интернет сайт, который призван частично решить проблему нехватки верифицированных научных источников на биологическую тематику в интернете</a:t>
            </a:r>
            <a:r>
              <a:rPr lang="ru-RU" sz="3200" dirty="0"/>
              <a:t>. </a:t>
            </a:r>
            <a:endParaRPr lang="ru-RU" sz="2800" dirty="0"/>
          </a:p>
          <a:p>
            <a:pPr marL="285750" indent="-285750">
              <a:buFont typeface="Arial" panose="020B0604020202020204" pitchFamily="34" charset="0"/>
              <a:buChar char="•"/>
            </a:pPr>
            <a:r>
              <a:rPr lang="ru-RU" sz="2800" dirty="0"/>
              <a:t>Выполнены все задачи</a:t>
            </a:r>
          </a:p>
          <a:p>
            <a:pPr marL="285750" indent="-285750">
              <a:buFont typeface="Arial" panose="020B0604020202020204" pitchFamily="34" charset="0"/>
              <a:buChar char="•"/>
            </a:pPr>
            <a:r>
              <a:rPr lang="ru-RU" sz="2800" dirty="0"/>
              <a:t>Создать сайт, который призван частично решить проблему нехватки верифицированных научных источников в интернете – задача выполнена.</a:t>
            </a:r>
          </a:p>
          <a:p>
            <a:pPr marL="285750" indent="-285750">
              <a:buFont typeface="Arial" panose="020B0604020202020204" pitchFamily="34" charset="0"/>
              <a:buChar char="•"/>
            </a:pPr>
            <a:endParaRPr lang="ru-RU" sz="2800" dirty="0"/>
          </a:p>
        </p:txBody>
      </p:sp>
    </p:spTree>
    <p:extLst>
      <p:ext uri="{BB962C8B-B14F-4D97-AF65-F5344CB8AC3E}">
        <p14:creationId xmlns:p14="http://schemas.microsoft.com/office/powerpoint/2010/main" val="115290155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2132</TotalTime>
  <Words>1518</Words>
  <Application>Microsoft Office PowerPoint</Application>
  <PresentationFormat>Широкоэкранный</PresentationFormat>
  <Paragraphs>79</Paragraphs>
  <Slides>10</Slides>
  <Notes>10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Arial</vt:lpstr>
      <vt:lpstr>Calibri</vt:lpstr>
      <vt:lpstr>Calibri Light</vt:lpstr>
      <vt:lpstr>Times New Roman</vt:lpstr>
      <vt:lpstr>Тема Office</vt:lpstr>
      <vt:lpstr>индивидуальный проект на тему: «Создание школьного сайта как источника по предмету биология»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School-687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Ganew</dc:creator>
  <cp:lastModifiedBy>lev</cp:lastModifiedBy>
  <cp:revision>292</cp:revision>
  <dcterms:created xsi:type="dcterms:W3CDTF">2020-09-11T01:39:42Z</dcterms:created>
  <dcterms:modified xsi:type="dcterms:W3CDTF">2020-11-16T11:41:05Z</dcterms:modified>
</cp:coreProperties>
</file>